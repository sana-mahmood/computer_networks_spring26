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30"/>
  </p:notesMasterIdLst>
  <p:sldIdLst>
    <p:sldId id="256" r:id="rId2"/>
    <p:sldId id="277" r:id="rId3"/>
    <p:sldId id="257" r:id="rId4"/>
    <p:sldId id="283" r:id="rId5"/>
    <p:sldId id="258" r:id="rId6"/>
    <p:sldId id="271" r:id="rId7"/>
    <p:sldId id="287" r:id="rId8"/>
    <p:sldId id="262" r:id="rId9"/>
    <p:sldId id="263" r:id="rId10"/>
    <p:sldId id="288" r:id="rId11"/>
    <p:sldId id="259" r:id="rId12"/>
    <p:sldId id="260" r:id="rId13"/>
    <p:sldId id="289" r:id="rId14"/>
    <p:sldId id="261" r:id="rId15"/>
    <p:sldId id="284" r:id="rId16"/>
    <p:sldId id="285" r:id="rId17"/>
    <p:sldId id="286" r:id="rId18"/>
    <p:sldId id="275" r:id="rId19"/>
    <p:sldId id="276" r:id="rId20"/>
    <p:sldId id="264" r:id="rId21"/>
    <p:sldId id="265" r:id="rId22"/>
    <p:sldId id="266" r:id="rId23"/>
    <p:sldId id="267" r:id="rId24"/>
    <p:sldId id="268" r:id="rId25"/>
    <p:sldId id="269" r:id="rId26"/>
    <p:sldId id="281" r:id="rId27"/>
    <p:sldId id="282" r:id="rId28"/>
    <p:sldId id="270" r:id="rId29"/>
  </p:sldIdLst>
  <p:sldSz cx="9144000" cy="5143500" type="screen16x9"/>
  <p:notesSz cx="6858000" cy="9144000"/>
  <p:embeddedFontLst>
    <p:embeddedFont>
      <p:font typeface="Lato" panose="020F0502020204030203" pitchFamily="34" charset="0"/>
      <p:regular r:id="rId31"/>
      <p:bold r:id="rId32"/>
      <p:italic r:id="rId33"/>
      <p:boldItalic r:id="rId34"/>
    </p:embeddedFont>
    <p:embeddedFont>
      <p:font typeface="Linux Libertine" panose="020B0604020202020204" charset="0"/>
      <p:regular r:id="rId35"/>
      <p:bold r:id="rId36"/>
      <p:italic r:id="rId37"/>
      <p:boldItalic r:id="rId38"/>
    </p:embeddedFont>
    <p:embeddedFont>
      <p:font typeface="Raleway" pitchFamily="2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50984D-39B3-48F7-8900-904D528E8BBA}" v="363" dt="2024-02-28T15:56:09.5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087" autoAdjust="0"/>
  </p:normalViewPr>
  <p:slideViewPr>
    <p:cSldViewPr snapToGrid="0">
      <p:cViewPr varScale="1">
        <p:scale>
          <a:sx n="111" d="100"/>
          <a:sy n="111" d="100"/>
        </p:scale>
        <p:origin x="77" y="18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019d0b02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019d0b02e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c019d0b02e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c019d0b02e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c019d0b02e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c019d0b02e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3505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E7527F38-6B2B-146A-3B1C-263BE9405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c019d0b02e_0_18:notes">
            <a:extLst>
              <a:ext uri="{FF2B5EF4-FFF2-40B4-BE49-F238E27FC236}">
                <a16:creationId xmlns:a16="http://schemas.microsoft.com/office/drawing/2014/main" id="{BDF64E3E-EFE6-8E66-3AAA-C41E80ADBD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c019d0b02e_0_18:notes">
            <a:extLst>
              <a:ext uri="{FF2B5EF4-FFF2-40B4-BE49-F238E27FC236}">
                <a16:creationId xmlns:a16="http://schemas.microsoft.com/office/drawing/2014/main" id="{9524BC26-EDEA-50AC-75EC-0917A2189E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35893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c019d0b02e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c019d0b02e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c019d0b02e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c019d0b02e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F3FAD743-AC2F-6220-FC42-FE999196F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c019d0b02e_0_18:notes">
            <a:extLst>
              <a:ext uri="{FF2B5EF4-FFF2-40B4-BE49-F238E27FC236}">
                <a16:creationId xmlns:a16="http://schemas.microsoft.com/office/drawing/2014/main" id="{DC42895F-7734-974C-FFE1-FDA4599D1A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c019d0b02e_0_18:notes">
            <a:extLst>
              <a:ext uri="{FF2B5EF4-FFF2-40B4-BE49-F238E27FC236}">
                <a16:creationId xmlns:a16="http://schemas.microsoft.com/office/drawing/2014/main" id="{4818D4F5-F0F9-91CE-7BB7-9D8105C5E1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71681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019d0b02e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019d0b02e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c019d0b02e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c019d0b02e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When both a valid next hop IP address and a corresponding MAC address are found, </a:t>
            </a:r>
            <a:r>
              <a:rPr lang="en" b="1">
                <a:solidFill>
                  <a:srgbClr val="51B9A3"/>
                </a:solidFill>
                <a:latin typeface="Lato"/>
                <a:ea typeface="Lato"/>
                <a:cs typeface="Lato"/>
                <a:sym typeface="Lato"/>
              </a:rPr>
              <a:t>send packet to its next hop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18662A6C-176F-EE12-D290-743D7BDCC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c019d0b02e_0_18:notes">
            <a:extLst>
              <a:ext uri="{FF2B5EF4-FFF2-40B4-BE49-F238E27FC236}">
                <a16:creationId xmlns:a16="http://schemas.microsoft.com/office/drawing/2014/main" id="{0F1A4665-B45F-809A-609C-24F76F473E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c019d0b02e_0_18:notes">
            <a:extLst>
              <a:ext uri="{FF2B5EF4-FFF2-40B4-BE49-F238E27FC236}">
                <a16:creationId xmlns:a16="http://schemas.microsoft.com/office/drawing/2014/main" id="{8BBBED9A-5FC5-75E8-C978-73AB24DBAE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07770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c019d0b02e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c019d0b02e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Please be aware there might be some other </a:t>
            </a:r>
          </a:p>
          <a:p>
            <a:r>
              <a:rPr lang="en-US" dirty="0"/>
              <a:t>There is no port number in ARP packet</a:t>
            </a:r>
          </a:p>
        </p:txBody>
      </p:sp>
    </p:spTree>
    <p:extLst>
      <p:ext uri="{BB962C8B-B14F-4D97-AF65-F5344CB8AC3E}">
        <p14:creationId xmlns:p14="http://schemas.microsoft.com/office/powerpoint/2010/main" val="7868777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c019d0b02e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c019d0b02e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c019d0b02e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c019d0b02e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c019d0b02e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c019d0b02e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c019d0b02e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c019d0b02e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c019d0b02e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c019d0b02e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c019d0b02e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c019d0b02e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c83c76805e_7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c83c76805e_7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353535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" name="Google Shape;63;p11"/>
          <p:cNvSpPr txBox="1">
            <a:spLocks noGrp="1"/>
          </p:cNvSpPr>
          <p:nvPr>
            <p:ph type="title" hasCustomPrompt="1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>
            <a:spLocks noGrp="1"/>
          </p:cNvSpPr>
          <p:nvPr>
            <p:ph type="title"/>
          </p:nvPr>
        </p:nvSpPr>
        <p:spPr>
          <a:xfrm>
            <a:off x="892970" y="1564482"/>
            <a:ext cx="7358063" cy="2007394"/>
          </a:xfrm>
          <a:prstGeom prst="rect">
            <a:avLst/>
          </a:prstGeom>
        </p:spPr>
        <p:txBody>
          <a:bodyPr/>
          <a:lstStyle>
            <a:lvl1pPr>
              <a:defRPr sz="3291"/>
            </a:lvl1pPr>
          </a:lstStyle>
          <a:p>
            <a:pPr lvl="0">
              <a:defRPr sz="1800"/>
            </a:pPr>
            <a:r>
              <a:rPr lang="en-US" sz="3291"/>
              <a:t>Click to edit Master title style</a:t>
            </a:r>
            <a:endParaRPr sz="3291"/>
          </a:p>
        </p:txBody>
      </p:sp>
      <p:sp>
        <p:nvSpPr>
          <p:cNvPr id="32" name="Shape 3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745218"/>
      </p:ext>
    </p:extLst>
  </p:cSld>
  <p:clrMapOvr>
    <a:masterClrMapping/>
  </p:clrMapOvr>
  <p:transition spd="med"/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wiss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mininet.or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 b="0" dirty="0"/>
              <a:t>Computer Networks Assignment 2: </a:t>
            </a:r>
            <a:br>
              <a:rPr lang="en" sz="4700" b="0" dirty="0"/>
            </a:br>
            <a:r>
              <a:rPr lang="en" sz="4700" dirty="0"/>
              <a:t>Simple Router</a:t>
            </a:r>
            <a:endParaRPr sz="4700" dirty="0"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Tutorial: 02/17/2026</a:t>
            </a:r>
            <a:endParaRPr sz="2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Due Date: March 13th</a:t>
            </a:r>
            <a:r>
              <a:rPr lang="en" sz="2400" b="1" dirty="0"/>
              <a:t>, 2026</a:t>
            </a:r>
            <a:endParaRPr sz="2400" b="1" dirty="0"/>
          </a:p>
        </p:txBody>
      </p:sp>
      <p:pic>
        <p:nvPicPr>
          <p:cNvPr id="3" name="Picture 2" descr="Shape&#10;&#10;Description automatically generated with low confidence">
            <a:extLst>
              <a:ext uri="{FF2B5EF4-FFF2-40B4-BE49-F238E27FC236}">
                <a16:creationId xmlns:a16="http://schemas.microsoft.com/office/drawing/2014/main" id="{EEEFBA4A-CE24-52DD-52D2-BBF85C73A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14" y="1306883"/>
            <a:ext cx="950686" cy="9506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BA881-475C-9992-399E-DC76479EA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PART 1: ASSIGNMENT DESCRIPTION</a:t>
            </a:r>
            <a:br>
              <a:rPr lang="en-US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</a:br>
            <a:br>
              <a:rPr lang="en-US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</a:br>
            <a:br>
              <a:rPr lang="en-US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</a:br>
            <a:br>
              <a:rPr lang="en-US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</a:br>
            <a:r>
              <a:rPr lang="en-US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Implementing a Simple Router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499047-D0F4-603D-B49B-C6830B1FF6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22489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>
            <a:spLocks noGrp="1"/>
          </p:cNvSpPr>
          <p:nvPr>
            <p:ph type="title"/>
          </p:nvPr>
        </p:nvSpPr>
        <p:spPr>
          <a:xfrm>
            <a:off x="303300" y="2591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4"/>
                </a:solidFill>
              </a:rPr>
              <a:t>Overview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293650" y="1027849"/>
            <a:ext cx="4964150" cy="3576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You will build a </a:t>
            </a:r>
            <a:r>
              <a:rPr lang="en" sz="1800" b="1" dirty="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simplified router</a:t>
            </a:r>
            <a:r>
              <a:rPr lang="en" sz="1800" dirty="0">
                <a:latin typeface="Lato"/>
                <a:ea typeface="Lato"/>
                <a:cs typeface="Lato"/>
                <a:sym typeface="Lato"/>
              </a:rPr>
              <a:t> which will route packets from an emulated client to two emulated servers.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Emulation environment: </a:t>
            </a:r>
            <a:r>
              <a:rPr lang="en" sz="1800" b="1" u="sng" dirty="0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Mininet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Four main parts to the assignment: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Preparing the emulation environment</a:t>
            </a: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Implementing IP forwarding</a:t>
            </a: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Implementing ICMP protocol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Handling address resolution (ARP)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0" name="Google Shape;8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5800" y="591638"/>
            <a:ext cx="3264736" cy="393992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/>
          <p:cNvSpPr/>
          <p:nvPr/>
        </p:nvSpPr>
        <p:spPr>
          <a:xfrm>
            <a:off x="6391375" y="2275113"/>
            <a:ext cx="1234200" cy="674279"/>
          </a:xfrm>
          <a:prstGeom prst="ellipse">
            <a:avLst/>
          </a:prstGeom>
          <a:solidFill>
            <a:srgbClr val="FFFF99">
              <a:alpha val="23922"/>
            </a:srgbClr>
          </a:solidFill>
          <a:ln w="28575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81;p14">
            <a:extLst>
              <a:ext uri="{FF2B5EF4-FFF2-40B4-BE49-F238E27FC236}">
                <a16:creationId xmlns:a16="http://schemas.microsoft.com/office/drawing/2014/main" id="{CB25ED29-0DD1-17AB-AB00-4FF3169B5E38}"/>
              </a:ext>
            </a:extLst>
          </p:cNvPr>
          <p:cNvSpPr/>
          <p:nvPr/>
        </p:nvSpPr>
        <p:spPr>
          <a:xfrm>
            <a:off x="5121380" y="395829"/>
            <a:ext cx="2016021" cy="2060714"/>
          </a:xfrm>
          <a:prstGeom prst="ellipse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81;p14">
            <a:extLst>
              <a:ext uri="{FF2B5EF4-FFF2-40B4-BE49-F238E27FC236}">
                <a16:creationId xmlns:a16="http://schemas.microsoft.com/office/drawing/2014/main" id="{CC3AF4C8-E91C-C9E4-CDFD-F411F7E91286}"/>
              </a:ext>
            </a:extLst>
          </p:cNvPr>
          <p:cNvSpPr/>
          <p:nvPr/>
        </p:nvSpPr>
        <p:spPr>
          <a:xfrm>
            <a:off x="6093836" y="2803312"/>
            <a:ext cx="2204711" cy="2060714"/>
          </a:xfrm>
          <a:prstGeom prst="ellipse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81;p14">
            <a:extLst>
              <a:ext uri="{FF2B5EF4-FFF2-40B4-BE49-F238E27FC236}">
                <a16:creationId xmlns:a16="http://schemas.microsoft.com/office/drawing/2014/main" id="{8346A66D-7B88-7C6B-9A16-E535254BAB1A}"/>
              </a:ext>
            </a:extLst>
          </p:cNvPr>
          <p:cNvSpPr/>
          <p:nvPr/>
        </p:nvSpPr>
        <p:spPr>
          <a:xfrm>
            <a:off x="7126514" y="500886"/>
            <a:ext cx="2045394" cy="2060714"/>
          </a:xfrm>
          <a:prstGeom prst="ellipse">
            <a:avLst/>
          </a:prstGeom>
          <a:noFill/>
          <a:ln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33C277-EB10-E424-E2A3-F789B6484F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uiExpand="1" build="p"/>
      <p:bldP spid="81" grpId="0" animBg="1"/>
      <p:bldP spid="2" grpId="0" animBg="1"/>
      <p:bldP spid="3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DF07-3896-690C-217D-9E82D5178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34426"/>
            <a:ext cx="8520600" cy="639600"/>
          </a:xfrm>
        </p:spPr>
        <p:txBody>
          <a:bodyPr/>
          <a:lstStyle/>
          <a:p>
            <a:r>
              <a:rPr lang="en-US" dirty="0"/>
              <a:t>Flow of a TCP/IP Transaction (HTTP Request)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7253B7F-D2FA-5684-3547-5ADAD087BF97}"/>
              </a:ext>
            </a:extLst>
          </p:cNvPr>
          <p:cNvCxnSpPr>
            <a:cxnSpLocks/>
          </p:cNvCxnSpPr>
          <p:nvPr/>
        </p:nvCxnSpPr>
        <p:spPr>
          <a:xfrm>
            <a:off x="1087582" y="1184564"/>
            <a:ext cx="2025" cy="38793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A14B3-989B-FD2C-F490-C10EA41A8001}"/>
              </a:ext>
            </a:extLst>
          </p:cNvPr>
          <p:cNvCxnSpPr>
            <a:cxnSpLocks/>
          </p:cNvCxnSpPr>
          <p:nvPr/>
        </p:nvCxnSpPr>
        <p:spPr>
          <a:xfrm>
            <a:off x="4703618" y="1184564"/>
            <a:ext cx="0" cy="38793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B307D68-0A8C-2D41-E3C1-A7C136E7E0DD}"/>
              </a:ext>
            </a:extLst>
          </p:cNvPr>
          <p:cNvCxnSpPr>
            <a:cxnSpLocks/>
          </p:cNvCxnSpPr>
          <p:nvPr/>
        </p:nvCxnSpPr>
        <p:spPr>
          <a:xfrm>
            <a:off x="7689272" y="1148709"/>
            <a:ext cx="0" cy="40033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B6867C8-CB23-861E-D9A6-0895785710CE}"/>
              </a:ext>
            </a:extLst>
          </p:cNvPr>
          <p:cNvSpPr txBox="1"/>
          <p:nvPr/>
        </p:nvSpPr>
        <p:spPr>
          <a:xfrm>
            <a:off x="420478" y="653877"/>
            <a:ext cx="13725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Client Network Stack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E05760-8BC6-AF72-C48F-E273FFA0950A}"/>
              </a:ext>
            </a:extLst>
          </p:cNvPr>
          <p:cNvSpPr txBox="1"/>
          <p:nvPr/>
        </p:nvSpPr>
        <p:spPr>
          <a:xfrm>
            <a:off x="4287983" y="897286"/>
            <a:ext cx="8104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Router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FD1522-A49E-6003-2170-51B3D92A80BC}"/>
              </a:ext>
            </a:extLst>
          </p:cNvPr>
          <p:cNvSpPr txBox="1"/>
          <p:nvPr/>
        </p:nvSpPr>
        <p:spPr>
          <a:xfrm>
            <a:off x="6922170" y="640955"/>
            <a:ext cx="14425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Server Network Stack</a:t>
            </a:r>
          </a:p>
        </p:txBody>
      </p:sp>
      <p:pic>
        <p:nvPicPr>
          <p:cNvPr id="11" name="Graphic 10" descr="Line arrow: Horizontal U-turn with solid fill">
            <a:extLst>
              <a:ext uri="{FF2B5EF4-FFF2-40B4-BE49-F238E27FC236}">
                <a16:creationId xmlns:a16="http://schemas.microsoft.com/office/drawing/2014/main" id="{48E4D0B9-DE2D-398C-430A-7F734B130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7818843" y="2883493"/>
            <a:ext cx="862508" cy="2585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9860E57-5070-8F04-0DBC-6A8B9283DB0F}"/>
              </a:ext>
            </a:extLst>
          </p:cNvPr>
          <p:cNvSpPr txBox="1"/>
          <p:nvPr/>
        </p:nvSpPr>
        <p:spPr>
          <a:xfrm>
            <a:off x="299327" y="1392460"/>
            <a:ext cx="8866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chemeClr val="bg2"/>
                </a:solidFill>
              </a:rPr>
              <a:t>1) GET 192.168.1.4 HTTP/1.1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EC9C175-F40D-67C9-F81E-A0901ECAB7AD}"/>
              </a:ext>
            </a:extLst>
          </p:cNvPr>
          <p:cNvCxnSpPr>
            <a:cxnSpLocks/>
          </p:cNvCxnSpPr>
          <p:nvPr/>
        </p:nvCxnSpPr>
        <p:spPr>
          <a:xfrm>
            <a:off x="394855" y="1170427"/>
            <a:ext cx="0" cy="38934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761FE65-011B-010E-52CE-AE39C02F296E}"/>
              </a:ext>
            </a:extLst>
          </p:cNvPr>
          <p:cNvCxnSpPr>
            <a:cxnSpLocks/>
          </p:cNvCxnSpPr>
          <p:nvPr/>
        </p:nvCxnSpPr>
        <p:spPr>
          <a:xfrm>
            <a:off x="394855" y="1205063"/>
            <a:ext cx="732329" cy="19738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FD00309-43BA-A66D-865D-60912605564B}"/>
              </a:ext>
            </a:extLst>
          </p:cNvPr>
          <p:cNvSpPr txBox="1"/>
          <p:nvPr/>
        </p:nvSpPr>
        <p:spPr>
          <a:xfrm>
            <a:off x="-129023" y="887036"/>
            <a:ext cx="1047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Browser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8C03234-4E3A-D72D-C1F9-E44354A7AD39}"/>
              </a:ext>
            </a:extLst>
          </p:cNvPr>
          <p:cNvCxnSpPr>
            <a:cxnSpLocks/>
          </p:cNvCxnSpPr>
          <p:nvPr/>
        </p:nvCxnSpPr>
        <p:spPr>
          <a:xfrm>
            <a:off x="8922328" y="1194813"/>
            <a:ext cx="0" cy="39072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7388204-C925-D457-9291-3369DDF00A3D}"/>
              </a:ext>
            </a:extLst>
          </p:cNvPr>
          <p:cNvSpPr txBox="1"/>
          <p:nvPr/>
        </p:nvSpPr>
        <p:spPr>
          <a:xfrm>
            <a:off x="8466119" y="635020"/>
            <a:ext cx="8103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HTTP Server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2BAA31-7039-D520-5AC5-05C42FB83777}"/>
              </a:ext>
            </a:extLst>
          </p:cNvPr>
          <p:cNvSpPr txBox="1"/>
          <p:nvPr/>
        </p:nvSpPr>
        <p:spPr>
          <a:xfrm rot="196430">
            <a:off x="1607122" y="1388580"/>
            <a:ext cx="240721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chemeClr val="accent3"/>
                </a:solidFill>
              </a:rPr>
              <a:t>2) WHO HAS 10.10.1.1?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206D67C-4A4B-1225-5988-2C3B3FD7EE26}"/>
              </a:ext>
            </a:extLst>
          </p:cNvPr>
          <p:cNvCxnSpPr>
            <a:cxnSpLocks/>
          </p:cNvCxnSpPr>
          <p:nvPr/>
        </p:nvCxnSpPr>
        <p:spPr>
          <a:xfrm>
            <a:off x="1087583" y="1480913"/>
            <a:ext cx="3622077" cy="130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6F377CD-7D26-77BB-3E18-336C57F8B5A4}"/>
              </a:ext>
            </a:extLst>
          </p:cNvPr>
          <p:cNvCxnSpPr>
            <a:cxnSpLocks/>
          </p:cNvCxnSpPr>
          <p:nvPr/>
        </p:nvCxnSpPr>
        <p:spPr>
          <a:xfrm>
            <a:off x="4693108" y="2173342"/>
            <a:ext cx="2985653" cy="153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31D8A63-72A4-00EE-59C1-5128C7D64D97}"/>
              </a:ext>
            </a:extLst>
          </p:cNvPr>
          <p:cNvCxnSpPr>
            <a:cxnSpLocks/>
          </p:cNvCxnSpPr>
          <p:nvPr/>
        </p:nvCxnSpPr>
        <p:spPr>
          <a:xfrm>
            <a:off x="4693108" y="2256567"/>
            <a:ext cx="2002683" cy="10438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D308FC4-C14A-6035-9B04-942AF04F6932}"/>
              </a:ext>
            </a:extLst>
          </p:cNvPr>
          <p:cNvCxnSpPr>
            <a:cxnSpLocks/>
          </p:cNvCxnSpPr>
          <p:nvPr/>
        </p:nvCxnSpPr>
        <p:spPr>
          <a:xfrm>
            <a:off x="4693108" y="2358676"/>
            <a:ext cx="2023304" cy="9013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E4375EB-7A95-AB75-2607-CCE515B52659}"/>
              </a:ext>
            </a:extLst>
          </p:cNvPr>
          <p:cNvSpPr txBox="1"/>
          <p:nvPr/>
        </p:nvSpPr>
        <p:spPr>
          <a:xfrm rot="262630">
            <a:off x="4801277" y="2069016"/>
            <a:ext cx="240721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chemeClr val="accent3"/>
                </a:solidFill>
              </a:rPr>
              <a:t>5) WHO HAS 192.168.1.4?</a:t>
            </a:r>
          </a:p>
        </p:txBody>
      </p:sp>
      <p:pic>
        <p:nvPicPr>
          <p:cNvPr id="30" name="Graphic 29" descr="Megaphone with solid fill">
            <a:extLst>
              <a:ext uri="{FF2B5EF4-FFF2-40B4-BE49-F238E27FC236}">
                <a16:creationId xmlns:a16="http://schemas.microsoft.com/office/drawing/2014/main" id="{154DCCD8-BC9D-E839-EDB1-51F829C8C0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79336" y="1994196"/>
            <a:ext cx="524741" cy="524741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A97AEB7-404B-6986-67DB-347C598DD56E}"/>
              </a:ext>
            </a:extLst>
          </p:cNvPr>
          <p:cNvCxnSpPr>
            <a:cxnSpLocks/>
          </p:cNvCxnSpPr>
          <p:nvPr/>
        </p:nvCxnSpPr>
        <p:spPr>
          <a:xfrm flipH="1">
            <a:off x="4693809" y="2422123"/>
            <a:ext cx="2985654" cy="84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F2F0CD0-83D7-D318-720A-945B00AF1793}"/>
              </a:ext>
            </a:extLst>
          </p:cNvPr>
          <p:cNvSpPr txBox="1"/>
          <p:nvPr/>
        </p:nvSpPr>
        <p:spPr>
          <a:xfrm rot="21382169">
            <a:off x="5760174" y="2452360"/>
            <a:ext cx="240721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chemeClr val="accent3"/>
                </a:solidFill>
              </a:rPr>
              <a:t>6) 192.168.1.4 IS AT AB:CD:55:66:77:99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C23369D-A092-0926-65FA-3BDDADFB5515}"/>
              </a:ext>
            </a:extLst>
          </p:cNvPr>
          <p:cNvSpPr txBox="1"/>
          <p:nvPr/>
        </p:nvSpPr>
        <p:spPr>
          <a:xfrm>
            <a:off x="1034310" y="1057959"/>
            <a:ext cx="19127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10.10.1.2, Gateway: 10.10.1.1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A64EF7-5DB7-FFCB-06E3-B9311442125E}"/>
              </a:ext>
            </a:extLst>
          </p:cNvPr>
          <p:cNvSpPr txBox="1"/>
          <p:nvPr/>
        </p:nvSpPr>
        <p:spPr>
          <a:xfrm>
            <a:off x="4017645" y="1148709"/>
            <a:ext cx="6859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10.10.1.1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9B8CABE-4D7C-5289-033E-4522E95358E7}"/>
              </a:ext>
            </a:extLst>
          </p:cNvPr>
          <p:cNvSpPr txBox="1"/>
          <p:nvPr/>
        </p:nvSpPr>
        <p:spPr>
          <a:xfrm>
            <a:off x="4663441" y="1148709"/>
            <a:ext cx="8661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192.168.1.1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C14996-FE01-DA6B-9356-FDB431B174EE}"/>
              </a:ext>
            </a:extLst>
          </p:cNvPr>
          <p:cNvSpPr txBox="1"/>
          <p:nvPr/>
        </p:nvSpPr>
        <p:spPr>
          <a:xfrm>
            <a:off x="6963781" y="1124928"/>
            <a:ext cx="22055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192.168.1.4, Gateway: 192.168.1.1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6FF186D-8A38-C045-1960-665557712E55}"/>
              </a:ext>
            </a:extLst>
          </p:cNvPr>
          <p:cNvCxnSpPr>
            <a:cxnSpLocks/>
          </p:cNvCxnSpPr>
          <p:nvPr/>
        </p:nvCxnSpPr>
        <p:spPr>
          <a:xfrm flipH="1" flipV="1">
            <a:off x="1089607" y="1677759"/>
            <a:ext cx="3600935" cy="24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6B8B07B-85BB-DAA4-A34D-F307546D78B5}"/>
              </a:ext>
            </a:extLst>
          </p:cNvPr>
          <p:cNvSpPr txBox="1"/>
          <p:nvPr/>
        </p:nvSpPr>
        <p:spPr>
          <a:xfrm>
            <a:off x="1671905" y="1671679"/>
            <a:ext cx="240721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chemeClr val="accent3"/>
                </a:solidFill>
              </a:rPr>
              <a:t>3) 10.10.1.1 IS AT AB:CD:34:34:12:14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25A62A1-6C1D-3E49-BBDD-F2617B39BEA1}"/>
              </a:ext>
            </a:extLst>
          </p:cNvPr>
          <p:cNvSpPr txBox="1"/>
          <p:nvPr/>
        </p:nvSpPr>
        <p:spPr>
          <a:xfrm rot="196430">
            <a:off x="1828730" y="1829914"/>
            <a:ext cx="240721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chemeClr val="bg2"/>
                </a:solidFill>
              </a:rPr>
              <a:t>4) TCP SYN from 10.10.1.2 to 192.168.1.4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15C8DA5-03E6-A688-5579-F62F0408691B}"/>
              </a:ext>
            </a:extLst>
          </p:cNvPr>
          <p:cNvCxnSpPr>
            <a:cxnSpLocks/>
          </p:cNvCxnSpPr>
          <p:nvPr/>
        </p:nvCxnSpPr>
        <p:spPr>
          <a:xfrm>
            <a:off x="1081542" y="1874075"/>
            <a:ext cx="3616035" cy="251415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1CA6235-61D1-6151-D964-AEADA52E75F3}"/>
              </a:ext>
            </a:extLst>
          </p:cNvPr>
          <p:cNvSpPr txBox="1"/>
          <p:nvPr/>
        </p:nvSpPr>
        <p:spPr>
          <a:xfrm rot="196430">
            <a:off x="4718460" y="2607590"/>
            <a:ext cx="240721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chemeClr val="bg2"/>
                </a:solidFill>
              </a:rPr>
              <a:t>7) TCP SYN from 10.10.1.2 to 192.168.1.4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300D530-59AB-6B25-1F60-7D1FCE2EE51F}"/>
              </a:ext>
            </a:extLst>
          </p:cNvPr>
          <p:cNvCxnSpPr>
            <a:cxnSpLocks/>
          </p:cNvCxnSpPr>
          <p:nvPr/>
        </p:nvCxnSpPr>
        <p:spPr>
          <a:xfrm>
            <a:off x="4702215" y="2739064"/>
            <a:ext cx="2985654" cy="209091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CEB0D2A0-F339-7BC1-DF26-C106B4AA48C3}"/>
              </a:ext>
            </a:extLst>
          </p:cNvPr>
          <p:cNvSpPr txBox="1"/>
          <p:nvPr/>
        </p:nvSpPr>
        <p:spPr>
          <a:xfrm rot="196430">
            <a:off x="7472790" y="4469377"/>
            <a:ext cx="169372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chemeClr val="bg2"/>
                </a:solidFill>
              </a:rPr>
              <a:t>20) GET 192.168.1.4 HTTP/1.1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02F442F-1D90-79B8-626C-2635A450BD59}"/>
              </a:ext>
            </a:extLst>
          </p:cNvPr>
          <p:cNvCxnSpPr>
            <a:cxnSpLocks/>
          </p:cNvCxnSpPr>
          <p:nvPr/>
        </p:nvCxnSpPr>
        <p:spPr>
          <a:xfrm>
            <a:off x="7697196" y="4648511"/>
            <a:ext cx="1225132" cy="64582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D574B38-4319-6D5C-7080-9BB5A3918F5C}"/>
              </a:ext>
            </a:extLst>
          </p:cNvPr>
          <p:cNvCxnSpPr>
            <a:cxnSpLocks/>
          </p:cNvCxnSpPr>
          <p:nvPr/>
        </p:nvCxnSpPr>
        <p:spPr>
          <a:xfrm flipH="1">
            <a:off x="7678761" y="4789746"/>
            <a:ext cx="1233057" cy="41354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6F8C97B-54CB-1438-F714-11A5D6A56090}"/>
              </a:ext>
            </a:extLst>
          </p:cNvPr>
          <p:cNvSpPr txBox="1"/>
          <p:nvPr/>
        </p:nvSpPr>
        <p:spPr>
          <a:xfrm rot="21449524">
            <a:off x="7517870" y="4842244"/>
            <a:ext cx="169372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chemeClr val="bg2"/>
                </a:solidFill>
              </a:rPr>
              <a:t>21) HTTP/1.1 200 OK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B2E682C-3B05-43C8-4C11-5C5A05373BBC}"/>
              </a:ext>
            </a:extLst>
          </p:cNvPr>
          <p:cNvCxnSpPr>
            <a:cxnSpLocks/>
          </p:cNvCxnSpPr>
          <p:nvPr/>
        </p:nvCxnSpPr>
        <p:spPr>
          <a:xfrm flipH="1">
            <a:off x="4693107" y="3065464"/>
            <a:ext cx="2985654" cy="84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9B3F174A-0076-316E-E370-63548FD21B81}"/>
              </a:ext>
            </a:extLst>
          </p:cNvPr>
          <p:cNvSpPr txBox="1"/>
          <p:nvPr/>
        </p:nvSpPr>
        <p:spPr>
          <a:xfrm rot="21382169">
            <a:off x="4955002" y="2930725"/>
            <a:ext cx="240721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chemeClr val="accent3"/>
                </a:solidFill>
              </a:rPr>
              <a:t>10) WHO HAS 192.168.1.1?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54830FF-1959-5A89-8FCE-1E60A3C947AC}"/>
              </a:ext>
            </a:extLst>
          </p:cNvPr>
          <p:cNvSpPr txBox="1"/>
          <p:nvPr/>
        </p:nvSpPr>
        <p:spPr>
          <a:xfrm rot="196430">
            <a:off x="5213616" y="3207315"/>
            <a:ext cx="240721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chemeClr val="accent3"/>
                </a:solidFill>
              </a:rPr>
              <a:t>11) 192.168.1.1 IS AT AB:CD:55:66:77:88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0C62EFF-EAAE-79C2-2342-B0F723123A79}"/>
              </a:ext>
            </a:extLst>
          </p:cNvPr>
          <p:cNvCxnSpPr>
            <a:cxnSpLocks/>
          </p:cNvCxnSpPr>
          <p:nvPr/>
        </p:nvCxnSpPr>
        <p:spPr>
          <a:xfrm>
            <a:off x="4711542" y="3271385"/>
            <a:ext cx="2985654" cy="209091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04CC31D-D7CE-70FA-FBFE-9D1DB67519F3}"/>
              </a:ext>
            </a:extLst>
          </p:cNvPr>
          <p:cNvCxnSpPr>
            <a:cxnSpLocks/>
          </p:cNvCxnSpPr>
          <p:nvPr/>
        </p:nvCxnSpPr>
        <p:spPr>
          <a:xfrm flipH="1">
            <a:off x="4703916" y="3565239"/>
            <a:ext cx="2983123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4BDC7FE7-3A53-CCDD-254C-84BF3BCCCDA1}"/>
              </a:ext>
            </a:extLst>
          </p:cNvPr>
          <p:cNvSpPr txBox="1"/>
          <p:nvPr/>
        </p:nvSpPr>
        <p:spPr>
          <a:xfrm rot="21449524">
            <a:off x="5378659" y="3575196"/>
            <a:ext cx="169372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chemeClr val="bg2"/>
                </a:solidFill>
              </a:rPr>
              <a:t>12) TCP ACK from 192.168.1.4 to 10.10.1.2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E9478F35-6BE4-5760-6563-CF7CFB514CE4}"/>
              </a:ext>
            </a:extLst>
          </p:cNvPr>
          <p:cNvCxnSpPr>
            <a:cxnSpLocks/>
          </p:cNvCxnSpPr>
          <p:nvPr/>
        </p:nvCxnSpPr>
        <p:spPr>
          <a:xfrm flipH="1">
            <a:off x="1058743" y="3651995"/>
            <a:ext cx="3627050" cy="869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52744AE-2F05-9EE6-8243-A5395E1569C7}"/>
              </a:ext>
            </a:extLst>
          </p:cNvPr>
          <p:cNvCxnSpPr>
            <a:cxnSpLocks/>
          </p:cNvCxnSpPr>
          <p:nvPr/>
        </p:nvCxnSpPr>
        <p:spPr>
          <a:xfrm flipH="1">
            <a:off x="3536048" y="3715293"/>
            <a:ext cx="1158316" cy="4487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77" name="Graphic 76" descr="Megaphone with solid fill">
            <a:extLst>
              <a:ext uri="{FF2B5EF4-FFF2-40B4-BE49-F238E27FC236}">
                <a16:creationId xmlns:a16="http://schemas.microsoft.com/office/drawing/2014/main" id="{29059342-D6C7-4BE2-3C58-E04BE5586F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3992619" y="3527250"/>
            <a:ext cx="426137" cy="376085"/>
          </a:xfrm>
          <a:prstGeom prst="rect">
            <a:avLst/>
          </a:prstGeom>
        </p:spPr>
      </p:pic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75A0670A-CF09-2AE8-EE37-62294C07391D}"/>
              </a:ext>
            </a:extLst>
          </p:cNvPr>
          <p:cNvCxnSpPr>
            <a:cxnSpLocks/>
          </p:cNvCxnSpPr>
          <p:nvPr/>
        </p:nvCxnSpPr>
        <p:spPr>
          <a:xfrm>
            <a:off x="1087879" y="3836661"/>
            <a:ext cx="3621429" cy="105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EED66B10-0695-0CB7-3979-EDC2A17EC9BB}"/>
              </a:ext>
            </a:extLst>
          </p:cNvPr>
          <p:cNvSpPr txBox="1"/>
          <p:nvPr/>
        </p:nvSpPr>
        <p:spPr>
          <a:xfrm>
            <a:off x="1523990" y="3874819"/>
            <a:ext cx="240721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chemeClr val="accent3"/>
                </a:solidFill>
              </a:rPr>
              <a:t>14) 10.10.1.2 IS AT AB:CD:55:66:11:CF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05A52B2B-3D2F-B224-9419-36A90DB33963}"/>
              </a:ext>
            </a:extLst>
          </p:cNvPr>
          <p:cNvCxnSpPr>
            <a:cxnSpLocks/>
          </p:cNvCxnSpPr>
          <p:nvPr/>
        </p:nvCxnSpPr>
        <p:spPr>
          <a:xfrm flipH="1">
            <a:off x="3547482" y="3777935"/>
            <a:ext cx="1158316" cy="4487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9738716F-B55E-86A3-B02F-620CED014697}"/>
              </a:ext>
            </a:extLst>
          </p:cNvPr>
          <p:cNvSpPr txBox="1"/>
          <p:nvPr/>
        </p:nvSpPr>
        <p:spPr>
          <a:xfrm>
            <a:off x="1737591" y="3479141"/>
            <a:ext cx="240721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chemeClr val="accent3"/>
                </a:solidFill>
              </a:rPr>
              <a:t>13) WHO HAS 10.10.1.2?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BB76743-E12F-E7B8-CE94-D6589FC8DF4B}"/>
              </a:ext>
            </a:extLst>
          </p:cNvPr>
          <p:cNvSpPr txBox="1"/>
          <p:nvPr/>
        </p:nvSpPr>
        <p:spPr>
          <a:xfrm>
            <a:off x="1888190" y="4345852"/>
            <a:ext cx="240721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chemeClr val="bg2"/>
                </a:solidFill>
              </a:rPr>
              <a:t>18) GET 192.168.1.4 HTTP/1.1, from 10.10.1.2 to 192.168.1.4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DB22088D-76FA-5E5D-88E0-DE76D10AB3D3}"/>
              </a:ext>
            </a:extLst>
          </p:cNvPr>
          <p:cNvCxnSpPr>
            <a:cxnSpLocks/>
          </p:cNvCxnSpPr>
          <p:nvPr/>
        </p:nvCxnSpPr>
        <p:spPr>
          <a:xfrm flipH="1">
            <a:off x="1075798" y="4059485"/>
            <a:ext cx="3617309" cy="74592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8D0D4D0A-375D-9C9A-BCE9-7F72AC9A3ECB}"/>
              </a:ext>
            </a:extLst>
          </p:cNvPr>
          <p:cNvSpPr txBox="1"/>
          <p:nvPr/>
        </p:nvSpPr>
        <p:spPr>
          <a:xfrm>
            <a:off x="1898602" y="4700474"/>
            <a:ext cx="169372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chemeClr val="bg2"/>
                </a:solidFill>
              </a:rPr>
              <a:t>23) HTTP/1.1 200 OK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86D7E37-C424-4A71-5FFE-6C45F6A88DFF}"/>
              </a:ext>
            </a:extLst>
          </p:cNvPr>
          <p:cNvSpPr txBox="1"/>
          <p:nvPr/>
        </p:nvSpPr>
        <p:spPr>
          <a:xfrm rot="21449524">
            <a:off x="1300872" y="4096452"/>
            <a:ext cx="169372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chemeClr val="bg2"/>
                </a:solidFill>
              </a:rPr>
              <a:t>15) TCP ACK from 192.168.1.4 to 10.10.1.2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D5D4F71-DF78-993F-D4A7-4D3291D44DE1}"/>
              </a:ext>
            </a:extLst>
          </p:cNvPr>
          <p:cNvSpPr txBox="1"/>
          <p:nvPr/>
        </p:nvSpPr>
        <p:spPr>
          <a:xfrm>
            <a:off x="2642776" y="4162504"/>
            <a:ext cx="240721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chemeClr val="bg2"/>
                </a:solidFill>
              </a:rPr>
              <a:t>16) TCP SYN/ACK from 10.10.1.2 to 192.168.1.4</a:t>
            </a: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3FA24826-C94C-7221-ECBB-CFD23DD62E96}"/>
              </a:ext>
            </a:extLst>
          </p:cNvPr>
          <p:cNvCxnSpPr>
            <a:cxnSpLocks/>
          </p:cNvCxnSpPr>
          <p:nvPr/>
        </p:nvCxnSpPr>
        <p:spPr>
          <a:xfrm>
            <a:off x="1085978" y="4292604"/>
            <a:ext cx="3638061" cy="82993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7C649896-607B-77FB-CE6F-6AE96CA89C09}"/>
              </a:ext>
            </a:extLst>
          </p:cNvPr>
          <p:cNvSpPr txBox="1"/>
          <p:nvPr/>
        </p:nvSpPr>
        <p:spPr>
          <a:xfrm>
            <a:off x="5475547" y="4230725"/>
            <a:ext cx="240721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chemeClr val="bg2"/>
                </a:solidFill>
              </a:rPr>
              <a:t>17) TCP SYN/ACK from 10.10.1.2 to 192.168.1.4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A79A7803-8CDE-472D-B5A0-E97B434B6991}"/>
              </a:ext>
            </a:extLst>
          </p:cNvPr>
          <p:cNvCxnSpPr>
            <a:cxnSpLocks/>
          </p:cNvCxnSpPr>
          <p:nvPr/>
        </p:nvCxnSpPr>
        <p:spPr>
          <a:xfrm>
            <a:off x="4709308" y="4422704"/>
            <a:ext cx="2969453" cy="21778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AB253AA4-D1E0-5052-6630-ABDD49D853A9}"/>
              </a:ext>
            </a:extLst>
          </p:cNvPr>
          <p:cNvCxnSpPr>
            <a:cxnSpLocks/>
          </p:cNvCxnSpPr>
          <p:nvPr/>
        </p:nvCxnSpPr>
        <p:spPr>
          <a:xfrm>
            <a:off x="1071315" y="4451053"/>
            <a:ext cx="3638061" cy="82993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53D85CA0-D2DD-5EBB-3686-C8FC83D50F38}"/>
              </a:ext>
            </a:extLst>
          </p:cNvPr>
          <p:cNvSpPr txBox="1"/>
          <p:nvPr/>
        </p:nvSpPr>
        <p:spPr>
          <a:xfrm>
            <a:off x="5133355" y="4444482"/>
            <a:ext cx="240721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chemeClr val="bg2"/>
                </a:solidFill>
              </a:rPr>
              <a:t>19) GET 192.168.1.4 HTTP/1.1, from 10.10.1.2 to 192.168.1.4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1311D8B0-DDF6-C50D-14CB-01C7994ACC7B}"/>
              </a:ext>
            </a:extLst>
          </p:cNvPr>
          <p:cNvCxnSpPr>
            <a:cxnSpLocks/>
          </p:cNvCxnSpPr>
          <p:nvPr/>
        </p:nvCxnSpPr>
        <p:spPr>
          <a:xfrm>
            <a:off x="4693107" y="4584042"/>
            <a:ext cx="2985654" cy="45106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81304FA0-80FE-D747-961E-9B0AC6D024FE}"/>
              </a:ext>
            </a:extLst>
          </p:cNvPr>
          <p:cNvCxnSpPr>
            <a:cxnSpLocks/>
          </p:cNvCxnSpPr>
          <p:nvPr/>
        </p:nvCxnSpPr>
        <p:spPr>
          <a:xfrm flipH="1">
            <a:off x="4693107" y="4870348"/>
            <a:ext cx="2985654" cy="11888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721370A2-BFCF-386E-BB52-4BC813D22041}"/>
              </a:ext>
            </a:extLst>
          </p:cNvPr>
          <p:cNvCxnSpPr>
            <a:cxnSpLocks/>
          </p:cNvCxnSpPr>
          <p:nvPr/>
        </p:nvCxnSpPr>
        <p:spPr>
          <a:xfrm flipH="1" flipV="1">
            <a:off x="1071315" y="4858923"/>
            <a:ext cx="3628111" cy="68501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F9AECE0F-DE08-E46C-C687-FFFEB7A1320B}"/>
              </a:ext>
            </a:extLst>
          </p:cNvPr>
          <p:cNvSpPr txBox="1"/>
          <p:nvPr/>
        </p:nvSpPr>
        <p:spPr>
          <a:xfrm>
            <a:off x="5515173" y="4700474"/>
            <a:ext cx="169372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chemeClr val="bg2"/>
                </a:solidFill>
              </a:rPr>
              <a:t>22) HTTP/1.1 200 OK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44149BD4-08DB-130B-345A-90FA4EF84CA6}"/>
              </a:ext>
            </a:extLst>
          </p:cNvPr>
          <p:cNvCxnSpPr>
            <a:cxnSpLocks/>
          </p:cNvCxnSpPr>
          <p:nvPr/>
        </p:nvCxnSpPr>
        <p:spPr>
          <a:xfrm flipH="1">
            <a:off x="380626" y="4927424"/>
            <a:ext cx="718878" cy="44541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211997B6-8F0D-B5A4-EA1D-35029F3CDDC5}"/>
              </a:ext>
            </a:extLst>
          </p:cNvPr>
          <p:cNvSpPr txBox="1"/>
          <p:nvPr/>
        </p:nvSpPr>
        <p:spPr>
          <a:xfrm>
            <a:off x="375469" y="4651246"/>
            <a:ext cx="7512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chemeClr val="bg2"/>
                </a:solidFill>
              </a:rPr>
              <a:t>24) HTTP/1.1 200 OK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5B8B5B82-58CE-8C80-D7C2-DA325362D040}"/>
              </a:ext>
            </a:extLst>
          </p:cNvPr>
          <p:cNvSpPr txBox="1"/>
          <p:nvPr/>
        </p:nvSpPr>
        <p:spPr>
          <a:xfrm rot="196430">
            <a:off x="7751565" y="2596129"/>
            <a:ext cx="1162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chemeClr val="bg2"/>
                </a:solidFill>
              </a:rPr>
              <a:t>8,9) Is there an app listening to port 80?</a:t>
            </a:r>
          </a:p>
          <a:p>
            <a:pPr algn="ctr"/>
            <a:r>
              <a:rPr lang="en-US" sz="600" dirty="0">
                <a:solidFill>
                  <a:schemeClr val="bg2"/>
                </a:solidFill>
              </a:rPr>
              <a:t>YES!</a:t>
            </a:r>
          </a:p>
        </p:txBody>
      </p:sp>
      <p:sp>
        <p:nvSpPr>
          <p:cNvPr id="128" name="Slide Number Placeholder 127">
            <a:extLst>
              <a:ext uri="{FF2B5EF4-FFF2-40B4-BE49-F238E27FC236}">
                <a16:creationId xmlns:a16="http://schemas.microsoft.com/office/drawing/2014/main" id="{69803833-1D78-37F1-58FA-335ECBF08C2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20596" y="4803023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2E0CC1-5590-5DC3-0C4C-BB31FAC92714}"/>
              </a:ext>
            </a:extLst>
          </p:cNvPr>
          <p:cNvSpPr/>
          <p:nvPr/>
        </p:nvSpPr>
        <p:spPr>
          <a:xfrm>
            <a:off x="599927" y="1205063"/>
            <a:ext cx="353742" cy="18739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bg2"/>
                </a:solidFill>
              </a:rPr>
              <a:t>App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04F5A6-B910-9DE9-D5FE-C2E702D93E3E}"/>
              </a:ext>
            </a:extLst>
          </p:cNvPr>
          <p:cNvSpPr/>
          <p:nvPr/>
        </p:nvSpPr>
        <p:spPr>
          <a:xfrm>
            <a:off x="682618" y="4927424"/>
            <a:ext cx="353742" cy="18739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bg2"/>
                </a:solidFill>
              </a:rPr>
              <a:t>App Data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3E876A-1084-7B29-AE04-81CD956DE067}"/>
              </a:ext>
            </a:extLst>
          </p:cNvPr>
          <p:cNvSpPr/>
          <p:nvPr/>
        </p:nvSpPr>
        <p:spPr>
          <a:xfrm>
            <a:off x="8012438" y="4660067"/>
            <a:ext cx="353742" cy="18739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bg2"/>
                </a:solidFill>
              </a:rPr>
              <a:t>App Data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627384-2A8C-7304-F93F-DDDE93FE24DB}"/>
              </a:ext>
            </a:extLst>
          </p:cNvPr>
          <p:cNvSpPr/>
          <p:nvPr/>
        </p:nvSpPr>
        <p:spPr>
          <a:xfrm>
            <a:off x="1361883" y="1342988"/>
            <a:ext cx="662326" cy="18739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bg2"/>
                </a:solidFill>
              </a:rPr>
              <a:t>ARP Request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AB2772-C5B1-FFF4-64D9-562D39B66FC5}"/>
              </a:ext>
            </a:extLst>
          </p:cNvPr>
          <p:cNvSpPr/>
          <p:nvPr/>
        </p:nvSpPr>
        <p:spPr>
          <a:xfrm>
            <a:off x="1309980" y="1600251"/>
            <a:ext cx="763340" cy="18739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bg2"/>
                </a:solidFill>
              </a:rPr>
              <a:t>ARP Response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A86AEAC-C909-BA57-DB07-9CC4EAA2DE1A}"/>
              </a:ext>
            </a:extLst>
          </p:cNvPr>
          <p:cNvSpPr/>
          <p:nvPr/>
        </p:nvSpPr>
        <p:spPr>
          <a:xfrm>
            <a:off x="1262076" y="1892272"/>
            <a:ext cx="662326" cy="18739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bg2"/>
                </a:solidFill>
              </a:rPr>
              <a:t>TCP SYN</a:t>
            </a:r>
          </a:p>
        </p:txBody>
      </p:sp>
    </p:spTree>
    <p:extLst>
      <p:ext uri="{BB962C8B-B14F-4D97-AF65-F5344CB8AC3E}">
        <p14:creationId xmlns:p14="http://schemas.microsoft.com/office/powerpoint/2010/main" val="2241539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0" grpId="0"/>
      <p:bldP spid="28" grpId="0"/>
      <p:bldP spid="34" grpId="0"/>
      <p:bldP spid="41" grpId="0"/>
      <p:bldP spid="43" grpId="0"/>
      <p:bldP spid="45" grpId="0"/>
      <p:bldP spid="52" grpId="0"/>
      <p:bldP spid="66" grpId="0"/>
      <p:bldP spid="68" grpId="0"/>
      <p:bldP spid="69" grpId="0"/>
      <p:bldP spid="72" grpId="0"/>
      <p:bldP spid="79" grpId="0"/>
      <p:bldP spid="88" grpId="0"/>
      <p:bldP spid="92" grpId="0"/>
      <p:bldP spid="94" grpId="0"/>
      <p:bldP spid="98" grpId="0"/>
      <p:bldP spid="99" grpId="0"/>
      <p:bldP spid="102" grpId="0"/>
      <p:bldP spid="106" grpId="0"/>
      <p:bldP spid="122" grpId="0"/>
      <p:bldP spid="126" grpId="0"/>
      <p:bldP spid="127" grpId="0"/>
      <p:bldP spid="3" grpId="0" animBg="1"/>
      <p:bldP spid="10" grpId="0" animBg="1"/>
      <p:bldP spid="14" grpId="0" animBg="1"/>
      <p:bldP spid="15" grpId="0" animBg="1"/>
      <p:bldP spid="22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>
            <a:spLocks noGrp="1"/>
          </p:cNvSpPr>
          <p:nvPr>
            <p:ph type="title"/>
          </p:nvPr>
        </p:nvSpPr>
        <p:spPr>
          <a:xfrm>
            <a:off x="303300" y="2591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4"/>
                </a:solidFill>
              </a:rPr>
              <a:t>Raw Ethernet Frames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293647" y="987935"/>
            <a:ext cx="8388000" cy="37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Your router will receive and send </a:t>
            </a:r>
            <a:r>
              <a:rPr lang="en" sz="1800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raw Ethernet </a:t>
            </a:r>
            <a:r>
              <a:rPr lang="en" sz="1800" dirty="0">
                <a:latin typeface="Lato"/>
                <a:ea typeface="Lato"/>
                <a:cs typeface="Lato"/>
                <a:sym typeface="Lato"/>
              </a:rPr>
              <a:t>frames.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4905F2BA-D403-4B61-E6FF-AC2B66AB9B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1007302"/>
              </p:ext>
            </p:extLst>
          </p:nvPr>
        </p:nvGraphicFramePr>
        <p:xfrm>
          <a:off x="412368" y="1634903"/>
          <a:ext cx="8424756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3666942074"/>
                    </a:ext>
                  </a:extLst>
                </a:gridCol>
                <a:gridCol w="1182914">
                  <a:extLst>
                    <a:ext uri="{9D8B030D-6E8A-4147-A177-3AD203B41FA5}">
                      <a16:colId xmlns:a16="http://schemas.microsoft.com/office/drawing/2014/main" val="1613140015"/>
                    </a:ext>
                  </a:extLst>
                </a:gridCol>
                <a:gridCol w="1618343">
                  <a:extLst>
                    <a:ext uri="{9D8B030D-6E8A-4147-A177-3AD203B41FA5}">
                      <a16:colId xmlns:a16="http://schemas.microsoft.com/office/drawing/2014/main" val="2676761090"/>
                    </a:ext>
                  </a:extLst>
                </a:gridCol>
                <a:gridCol w="2227943">
                  <a:extLst>
                    <a:ext uri="{9D8B030D-6E8A-4147-A177-3AD203B41FA5}">
                      <a16:colId xmlns:a16="http://schemas.microsoft.com/office/drawing/2014/main" val="1534327718"/>
                    </a:ext>
                  </a:extLst>
                </a:gridCol>
                <a:gridCol w="1237343">
                  <a:extLst>
                    <a:ext uri="{9D8B030D-6E8A-4147-A177-3AD203B41FA5}">
                      <a16:colId xmlns:a16="http://schemas.microsoft.com/office/drawing/2014/main" val="1591669518"/>
                    </a:ext>
                  </a:extLst>
                </a:gridCol>
                <a:gridCol w="1193013">
                  <a:extLst>
                    <a:ext uri="{9D8B030D-6E8A-4147-A177-3AD203B41FA5}">
                      <a16:colId xmlns:a16="http://schemas.microsoft.com/office/drawing/2014/main" val="4166719051"/>
                    </a:ext>
                  </a:extLst>
                </a:gridCol>
              </a:tblGrid>
              <a:tr h="334736">
                <a:tc>
                  <a:txBody>
                    <a:bodyPr/>
                    <a:lstStyle/>
                    <a:p>
                      <a:r>
                        <a:rPr lang="en-US" sz="1200" dirty="0"/>
                        <a:t>PHYSICAL preamble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ETHERNET Header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Network Header</a:t>
                      </a:r>
                    </a:p>
                    <a:p>
                      <a:r>
                        <a:rPr lang="en-US" dirty="0">
                          <a:solidFill>
                            <a:schemeClr val="bg2">
                              <a:lumMod val="85000"/>
                              <a:lumOff val="15000"/>
                            </a:schemeClr>
                          </a:solidFill>
                        </a:rPr>
                        <a:t>IPv4</a:t>
                      </a:r>
                      <a:r>
                        <a:rPr lang="en-US" dirty="0"/>
                        <a:t>, </a:t>
                      </a:r>
                      <a:r>
                        <a:rPr lang="en-US" dirty="0">
                          <a:solidFill>
                            <a:schemeClr val="accent3"/>
                          </a:solidFill>
                        </a:rPr>
                        <a:t>ARP</a:t>
                      </a:r>
                      <a:r>
                        <a:rPr lang="en-US" dirty="0"/>
                        <a:t>,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Transport Header</a:t>
                      </a:r>
                    </a:p>
                    <a:p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ICMP</a:t>
                      </a:r>
                      <a:r>
                        <a:rPr lang="en-US" sz="1400" dirty="0"/>
                        <a:t>, UDP, TCP,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Payload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END of frame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88476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A0279DB-1DC1-0457-57C8-AA0D8A8C3D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098055"/>
              </p:ext>
            </p:extLst>
          </p:nvPr>
        </p:nvGraphicFramePr>
        <p:xfrm>
          <a:off x="399143" y="3007695"/>
          <a:ext cx="8451210" cy="443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2121">
                  <a:extLst>
                    <a:ext uri="{9D8B030D-6E8A-4147-A177-3AD203B41FA5}">
                      <a16:colId xmlns:a16="http://schemas.microsoft.com/office/drawing/2014/main" val="1613140015"/>
                    </a:ext>
                  </a:extLst>
                </a:gridCol>
                <a:gridCol w="942121">
                  <a:extLst>
                    <a:ext uri="{9D8B030D-6E8A-4147-A177-3AD203B41FA5}">
                      <a16:colId xmlns:a16="http://schemas.microsoft.com/office/drawing/2014/main" val="3015063627"/>
                    </a:ext>
                  </a:extLst>
                </a:gridCol>
                <a:gridCol w="942121">
                  <a:extLst>
                    <a:ext uri="{9D8B030D-6E8A-4147-A177-3AD203B41FA5}">
                      <a16:colId xmlns:a16="http://schemas.microsoft.com/office/drawing/2014/main" val="253732210"/>
                    </a:ext>
                  </a:extLst>
                </a:gridCol>
                <a:gridCol w="942121">
                  <a:extLst>
                    <a:ext uri="{9D8B030D-6E8A-4147-A177-3AD203B41FA5}">
                      <a16:colId xmlns:a16="http://schemas.microsoft.com/office/drawing/2014/main" val="356078274"/>
                    </a:ext>
                  </a:extLst>
                </a:gridCol>
                <a:gridCol w="847344">
                  <a:extLst>
                    <a:ext uri="{9D8B030D-6E8A-4147-A177-3AD203B41FA5}">
                      <a16:colId xmlns:a16="http://schemas.microsoft.com/office/drawing/2014/main" val="2676761090"/>
                    </a:ext>
                  </a:extLst>
                </a:gridCol>
                <a:gridCol w="728518">
                  <a:extLst>
                    <a:ext uri="{9D8B030D-6E8A-4147-A177-3AD203B41FA5}">
                      <a16:colId xmlns:a16="http://schemas.microsoft.com/office/drawing/2014/main" val="1534327718"/>
                    </a:ext>
                  </a:extLst>
                </a:gridCol>
                <a:gridCol w="776716">
                  <a:extLst>
                    <a:ext uri="{9D8B030D-6E8A-4147-A177-3AD203B41FA5}">
                      <a16:colId xmlns:a16="http://schemas.microsoft.com/office/drawing/2014/main" val="1591669518"/>
                    </a:ext>
                  </a:extLst>
                </a:gridCol>
                <a:gridCol w="776716">
                  <a:extLst>
                    <a:ext uri="{9D8B030D-6E8A-4147-A177-3AD203B41FA5}">
                      <a16:colId xmlns:a16="http://schemas.microsoft.com/office/drawing/2014/main" val="1844042208"/>
                    </a:ext>
                  </a:extLst>
                </a:gridCol>
                <a:gridCol w="776716">
                  <a:extLst>
                    <a:ext uri="{9D8B030D-6E8A-4147-A177-3AD203B41FA5}">
                      <a16:colId xmlns:a16="http://schemas.microsoft.com/office/drawing/2014/main" val="186659284"/>
                    </a:ext>
                  </a:extLst>
                </a:gridCol>
                <a:gridCol w="776716">
                  <a:extLst>
                    <a:ext uri="{9D8B030D-6E8A-4147-A177-3AD203B41FA5}">
                      <a16:colId xmlns:a16="http://schemas.microsoft.com/office/drawing/2014/main" val="2178372411"/>
                    </a:ext>
                  </a:extLst>
                </a:gridCol>
              </a:tblGrid>
              <a:tr h="443716">
                <a:tc>
                  <a:txBody>
                    <a:bodyPr/>
                    <a:lstStyle/>
                    <a:p>
                      <a:r>
                        <a:rPr lang="en-US" sz="900" dirty="0"/>
                        <a:t>Ver-IHL (1B)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TOS (1B)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Total Length (2B)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Identification (2B)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F-Fragment Offset (2B)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TTL (1B)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PROTOCOL (1B)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CSUM (2B)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SOURCE ADDR (4B)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DEST ADDR (4B)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88476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8E1BCA-AC6E-1632-6A43-CF402FAE79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766953"/>
              </p:ext>
            </p:extLst>
          </p:nvPr>
        </p:nvGraphicFramePr>
        <p:xfrm>
          <a:off x="385917" y="2376967"/>
          <a:ext cx="8451207" cy="443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6629">
                  <a:extLst>
                    <a:ext uri="{9D8B030D-6E8A-4147-A177-3AD203B41FA5}">
                      <a16:colId xmlns:a16="http://schemas.microsoft.com/office/drawing/2014/main" val="1613140015"/>
                    </a:ext>
                  </a:extLst>
                </a:gridCol>
                <a:gridCol w="2173515">
                  <a:extLst>
                    <a:ext uri="{9D8B030D-6E8A-4147-A177-3AD203B41FA5}">
                      <a16:colId xmlns:a16="http://schemas.microsoft.com/office/drawing/2014/main" val="2676761090"/>
                    </a:ext>
                  </a:extLst>
                </a:gridCol>
                <a:gridCol w="1868714">
                  <a:extLst>
                    <a:ext uri="{9D8B030D-6E8A-4147-A177-3AD203B41FA5}">
                      <a16:colId xmlns:a16="http://schemas.microsoft.com/office/drawing/2014/main" val="1534327718"/>
                    </a:ext>
                  </a:extLst>
                </a:gridCol>
                <a:gridCol w="1992349">
                  <a:extLst>
                    <a:ext uri="{9D8B030D-6E8A-4147-A177-3AD203B41FA5}">
                      <a16:colId xmlns:a16="http://schemas.microsoft.com/office/drawing/2014/main" val="1591669518"/>
                    </a:ext>
                  </a:extLst>
                </a:gridCol>
              </a:tblGrid>
              <a:tr h="443716">
                <a:tc>
                  <a:txBody>
                    <a:bodyPr/>
                    <a:lstStyle/>
                    <a:p>
                      <a:r>
                        <a:rPr lang="en-US" dirty="0"/>
                        <a:t>DESTINATION MAC (6B)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SOURCE MAC (6B)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ETHERTYPE (2B)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88476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F1B99B-0D3E-67C7-5DD0-8C60CD9F60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787770"/>
              </p:ext>
            </p:extLst>
          </p:nvPr>
        </p:nvGraphicFramePr>
        <p:xfrm>
          <a:off x="399143" y="3620924"/>
          <a:ext cx="6897778" cy="443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2121">
                  <a:extLst>
                    <a:ext uri="{9D8B030D-6E8A-4147-A177-3AD203B41FA5}">
                      <a16:colId xmlns:a16="http://schemas.microsoft.com/office/drawing/2014/main" val="1613140015"/>
                    </a:ext>
                  </a:extLst>
                </a:gridCol>
                <a:gridCol w="942121">
                  <a:extLst>
                    <a:ext uri="{9D8B030D-6E8A-4147-A177-3AD203B41FA5}">
                      <a16:colId xmlns:a16="http://schemas.microsoft.com/office/drawing/2014/main" val="3015063627"/>
                    </a:ext>
                  </a:extLst>
                </a:gridCol>
                <a:gridCol w="942121">
                  <a:extLst>
                    <a:ext uri="{9D8B030D-6E8A-4147-A177-3AD203B41FA5}">
                      <a16:colId xmlns:a16="http://schemas.microsoft.com/office/drawing/2014/main" val="253732210"/>
                    </a:ext>
                  </a:extLst>
                </a:gridCol>
                <a:gridCol w="942121">
                  <a:extLst>
                    <a:ext uri="{9D8B030D-6E8A-4147-A177-3AD203B41FA5}">
                      <a16:colId xmlns:a16="http://schemas.microsoft.com/office/drawing/2014/main" val="356078274"/>
                    </a:ext>
                  </a:extLst>
                </a:gridCol>
                <a:gridCol w="847344">
                  <a:extLst>
                    <a:ext uri="{9D8B030D-6E8A-4147-A177-3AD203B41FA5}">
                      <a16:colId xmlns:a16="http://schemas.microsoft.com/office/drawing/2014/main" val="2676761090"/>
                    </a:ext>
                  </a:extLst>
                </a:gridCol>
                <a:gridCol w="728518">
                  <a:extLst>
                    <a:ext uri="{9D8B030D-6E8A-4147-A177-3AD203B41FA5}">
                      <a16:colId xmlns:a16="http://schemas.microsoft.com/office/drawing/2014/main" val="1534327718"/>
                    </a:ext>
                  </a:extLst>
                </a:gridCol>
                <a:gridCol w="776716">
                  <a:extLst>
                    <a:ext uri="{9D8B030D-6E8A-4147-A177-3AD203B41FA5}">
                      <a16:colId xmlns:a16="http://schemas.microsoft.com/office/drawing/2014/main" val="1591669518"/>
                    </a:ext>
                  </a:extLst>
                </a:gridCol>
                <a:gridCol w="776716">
                  <a:extLst>
                    <a:ext uri="{9D8B030D-6E8A-4147-A177-3AD203B41FA5}">
                      <a16:colId xmlns:a16="http://schemas.microsoft.com/office/drawing/2014/main" val="1844042208"/>
                    </a:ext>
                  </a:extLst>
                </a:gridCol>
              </a:tblGrid>
              <a:tr h="443716">
                <a:tc>
                  <a:txBody>
                    <a:bodyPr/>
                    <a:lstStyle/>
                    <a:p>
                      <a:r>
                        <a:rPr lang="en-US" sz="900" dirty="0"/>
                        <a:t>HTYPE (2B)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PTYPE (2B)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HLEN (1B)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OPCODE (2B)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SENDER MAC (6B)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SENDER IP (4B)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TARGET MAC (6B)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TARGET IP (4B)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88476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942A018-27A9-ED04-4034-A46C78F5C6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661209"/>
              </p:ext>
            </p:extLst>
          </p:nvPr>
        </p:nvGraphicFramePr>
        <p:xfrm>
          <a:off x="399143" y="4234153"/>
          <a:ext cx="3812132" cy="443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3033">
                  <a:extLst>
                    <a:ext uri="{9D8B030D-6E8A-4147-A177-3AD203B41FA5}">
                      <a16:colId xmlns:a16="http://schemas.microsoft.com/office/drawing/2014/main" val="1613140015"/>
                    </a:ext>
                  </a:extLst>
                </a:gridCol>
                <a:gridCol w="953033">
                  <a:extLst>
                    <a:ext uri="{9D8B030D-6E8A-4147-A177-3AD203B41FA5}">
                      <a16:colId xmlns:a16="http://schemas.microsoft.com/office/drawing/2014/main" val="3015063627"/>
                    </a:ext>
                  </a:extLst>
                </a:gridCol>
                <a:gridCol w="953033">
                  <a:extLst>
                    <a:ext uri="{9D8B030D-6E8A-4147-A177-3AD203B41FA5}">
                      <a16:colId xmlns:a16="http://schemas.microsoft.com/office/drawing/2014/main" val="1449619909"/>
                    </a:ext>
                  </a:extLst>
                </a:gridCol>
                <a:gridCol w="953033">
                  <a:extLst>
                    <a:ext uri="{9D8B030D-6E8A-4147-A177-3AD203B41FA5}">
                      <a16:colId xmlns:a16="http://schemas.microsoft.com/office/drawing/2014/main" val="253732210"/>
                    </a:ext>
                  </a:extLst>
                </a:gridCol>
              </a:tblGrid>
              <a:tr h="443716">
                <a:tc>
                  <a:txBody>
                    <a:bodyPr/>
                    <a:lstStyle/>
                    <a:p>
                      <a:r>
                        <a:rPr lang="en-US" sz="900" dirty="0"/>
                        <a:t>TYPE (1B)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CODE (1B)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CHECKSUM (2B)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ICMP DATA (4B)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88476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ADADF1A-0221-0B46-535E-BEE55C084497}"/>
              </a:ext>
            </a:extLst>
          </p:cNvPr>
          <p:cNvSpPr txBox="1"/>
          <p:nvPr/>
        </p:nvSpPr>
        <p:spPr>
          <a:xfrm>
            <a:off x="40844" y="2078182"/>
            <a:ext cx="400110" cy="86243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b="1" dirty="0"/>
              <a:t>Ethernet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309AF-738E-BCA6-6380-E81C7C8FF67E}"/>
              </a:ext>
            </a:extLst>
          </p:cNvPr>
          <p:cNvSpPr txBox="1"/>
          <p:nvPr/>
        </p:nvSpPr>
        <p:spPr>
          <a:xfrm>
            <a:off x="40844" y="2687221"/>
            <a:ext cx="400110" cy="76419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dirty="0"/>
              <a:t>IPv4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8B15EA-EF85-B0EE-3A51-245905DC0FD1}"/>
              </a:ext>
            </a:extLst>
          </p:cNvPr>
          <p:cNvSpPr txBox="1"/>
          <p:nvPr/>
        </p:nvSpPr>
        <p:spPr>
          <a:xfrm>
            <a:off x="40844" y="3300450"/>
            <a:ext cx="400110" cy="76419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dirty="0"/>
              <a:t>ARP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B5B199-134E-7D8A-ABF5-C4A3E00CF26E}"/>
              </a:ext>
            </a:extLst>
          </p:cNvPr>
          <p:cNvSpPr txBox="1"/>
          <p:nvPr/>
        </p:nvSpPr>
        <p:spPr>
          <a:xfrm>
            <a:off x="40844" y="3910652"/>
            <a:ext cx="400110" cy="76419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dirty="0"/>
              <a:t>ICMP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B3BD3BF-EAC8-08EA-C3B0-A2551901CD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5" grpId="1"/>
      <p:bldP spid="9" grpId="0"/>
      <p:bldP spid="9" grpId="1"/>
      <p:bldP spid="10" grpId="0"/>
      <p:bldP spid="10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>
            <a:spLocks noGrp="1"/>
          </p:cNvSpPr>
          <p:nvPr>
            <p:ph type="title"/>
          </p:nvPr>
        </p:nvSpPr>
        <p:spPr>
          <a:xfrm>
            <a:off x="303300" y="2591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Ethernet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293650" y="1027850"/>
            <a:ext cx="8388000" cy="37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Your router will receive and send </a:t>
            </a:r>
            <a:r>
              <a:rPr lang="en" sz="1800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raw Ethernet </a:t>
            </a:r>
            <a:r>
              <a:rPr lang="en" sz="1800" dirty="0">
                <a:latin typeface="Lato"/>
                <a:ea typeface="Lato"/>
                <a:cs typeface="Lato"/>
                <a:sym typeface="Lato"/>
              </a:rPr>
              <a:t>frames.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Ethernet frames have headers which contain source and destination MAC addresses.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lang="en" sz="1800" dirty="0">
                <a:solidFill>
                  <a:srgbClr val="24292E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To forward a packet one hop, we must </a:t>
            </a:r>
            <a:r>
              <a:rPr lang="en" sz="1800" dirty="0">
                <a:solidFill>
                  <a:schemeClr val="accent2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change</a:t>
            </a:r>
            <a:r>
              <a:rPr lang="en" sz="1800" dirty="0">
                <a:solidFill>
                  <a:srgbClr val="24292E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the destination MAC address of the forwarded packet to the MAC address of the next hop’s incoming interface.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Your router must </a:t>
            </a:r>
            <a:r>
              <a:rPr lang="en" sz="1800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process</a:t>
            </a:r>
            <a:r>
              <a:rPr lang="en" sz="1800" dirty="0">
                <a:latin typeface="Lato"/>
                <a:ea typeface="Lato"/>
                <a:cs typeface="Lato"/>
                <a:sym typeface="Lato"/>
              </a:rPr>
              <a:t> packets &amp; </a:t>
            </a:r>
            <a:r>
              <a:rPr lang="en" sz="1800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forward</a:t>
            </a:r>
            <a:r>
              <a:rPr lang="en" sz="1800" dirty="0">
                <a:latin typeface="Lato"/>
                <a:ea typeface="Lato"/>
                <a:cs typeface="Lato"/>
                <a:sym typeface="Lato"/>
              </a:rPr>
              <a:t> them to the correct interface.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When your router receives a packet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First, </a:t>
            </a:r>
            <a:r>
              <a:rPr lang="en" sz="1800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identify</a:t>
            </a:r>
            <a:r>
              <a:rPr lang="en" sz="1800" dirty="0">
                <a:latin typeface="Lato"/>
                <a:ea typeface="Lato"/>
                <a:cs typeface="Lato"/>
                <a:sym typeface="Lato"/>
              </a:rPr>
              <a:t> the packet (IP, ARP)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Then, </a:t>
            </a:r>
            <a:r>
              <a:rPr lang="en" sz="1800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extract</a:t>
            </a:r>
            <a:r>
              <a:rPr lang="en" sz="1800" dirty="0">
                <a:latin typeface="Lato"/>
                <a:ea typeface="Lato"/>
                <a:cs typeface="Lato"/>
                <a:sym typeface="Lato"/>
              </a:rPr>
              <a:t> appropriate header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AF35F5-32FF-2BC8-D807-602A95ED62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99249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DA3E1D00-E5EE-B57E-EA0C-13BD2429D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>
            <a:extLst>
              <a:ext uri="{FF2B5EF4-FFF2-40B4-BE49-F238E27FC236}">
                <a16:creationId xmlns:a16="http://schemas.microsoft.com/office/drawing/2014/main" id="{D2CDD5C9-EFFA-4577-26F7-84BDF230C5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3300" y="2591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4"/>
                </a:solidFill>
              </a:rPr>
              <a:t>Raw Ethernet Frames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87" name="Google Shape;87;p15">
            <a:extLst>
              <a:ext uri="{FF2B5EF4-FFF2-40B4-BE49-F238E27FC236}">
                <a16:creationId xmlns:a16="http://schemas.microsoft.com/office/drawing/2014/main" id="{DEE62AD6-7E2C-B146-BF57-9372C7352756}"/>
              </a:ext>
            </a:extLst>
          </p:cNvPr>
          <p:cNvSpPr txBox="1"/>
          <p:nvPr/>
        </p:nvSpPr>
        <p:spPr>
          <a:xfrm>
            <a:off x="293647" y="987935"/>
            <a:ext cx="8388000" cy="37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Your router will receive and send </a:t>
            </a:r>
            <a:r>
              <a:rPr lang="en" sz="1800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raw Ethernet </a:t>
            </a:r>
            <a:r>
              <a:rPr lang="en" sz="1800" dirty="0">
                <a:latin typeface="Lato"/>
                <a:ea typeface="Lato"/>
                <a:cs typeface="Lato"/>
                <a:sym typeface="Lato"/>
              </a:rPr>
              <a:t>frames.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87AAD0D-5B27-70DA-5EEB-47B64230C471}"/>
              </a:ext>
            </a:extLst>
          </p:cNvPr>
          <p:cNvGraphicFramePr>
            <a:graphicFrameLocks noGrp="1"/>
          </p:cNvGraphicFramePr>
          <p:nvPr/>
        </p:nvGraphicFramePr>
        <p:xfrm>
          <a:off x="412368" y="1634903"/>
          <a:ext cx="8424756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3666942074"/>
                    </a:ext>
                  </a:extLst>
                </a:gridCol>
                <a:gridCol w="1182914">
                  <a:extLst>
                    <a:ext uri="{9D8B030D-6E8A-4147-A177-3AD203B41FA5}">
                      <a16:colId xmlns:a16="http://schemas.microsoft.com/office/drawing/2014/main" val="1613140015"/>
                    </a:ext>
                  </a:extLst>
                </a:gridCol>
                <a:gridCol w="1618343">
                  <a:extLst>
                    <a:ext uri="{9D8B030D-6E8A-4147-A177-3AD203B41FA5}">
                      <a16:colId xmlns:a16="http://schemas.microsoft.com/office/drawing/2014/main" val="2676761090"/>
                    </a:ext>
                  </a:extLst>
                </a:gridCol>
                <a:gridCol w="2227943">
                  <a:extLst>
                    <a:ext uri="{9D8B030D-6E8A-4147-A177-3AD203B41FA5}">
                      <a16:colId xmlns:a16="http://schemas.microsoft.com/office/drawing/2014/main" val="1534327718"/>
                    </a:ext>
                  </a:extLst>
                </a:gridCol>
                <a:gridCol w="1237343">
                  <a:extLst>
                    <a:ext uri="{9D8B030D-6E8A-4147-A177-3AD203B41FA5}">
                      <a16:colId xmlns:a16="http://schemas.microsoft.com/office/drawing/2014/main" val="1591669518"/>
                    </a:ext>
                  </a:extLst>
                </a:gridCol>
                <a:gridCol w="1193013">
                  <a:extLst>
                    <a:ext uri="{9D8B030D-6E8A-4147-A177-3AD203B41FA5}">
                      <a16:colId xmlns:a16="http://schemas.microsoft.com/office/drawing/2014/main" val="4166719051"/>
                    </a:ext>
                  </a:extLst>
                </a:gridCol>
              </a:tblGrid>
              <a:tr h="334736">
                <a:tc>
                  <a:txBody>
                    <a:bodyPr/>
                    <a:lstStyle/>
                    <a:p>
                      <a:r>
                        <a:rPr lang="en-US" sz="1200" dirty="0"/>
                        <a:t>PHYSICAL preamble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ETHERNET Header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Network Header</a:t>
                      </a:r>
                    </a:p>
                    <a:p>
                      <a:r>
                        <a:rPr lang="en-US" dirty="0">
                          <a:solidFill>
                            <a:schemeClr val="bg2">
                              <a:lumMod val="85000"/>
                              <a:lumOff val="15000"/>
                            </a:schemeClr>
                          </a:solidFill>
                        </a:rPr>
                        <a:t>IPv4</a:t>
                      </a:r>
                      <a:r>
                        <a:rPr lang="en-US" dirty="0"/>
                        <a:t>, </a:t>
                      </a:r>
                      <a:r>
                        <a:rPr lang="en-US" dirty="0">
                          <a:solidFill>
                            <a:schemeClr val="accent3"/>
                          </a:solidFill>
                        </a:rPr>
                        <a:t>ARP</a:t>
                      </a:r>
                      <a:r>
                        <a:rPr lang="en-US" dirty="0"/>
                        <a:t>,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Transport Header</a:t>
                      </a:r>
                    </a:p>
                    <a:p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ICMP</a:t>
                      </a:r>
                      <a:r>
                        <a:rPr lang="en-US" sz="1400" dirty="0"/>
                        <a:t>, UDP, TCP,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Payload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END of frame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88476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8FF7A99-83E0-0A5B-D671-F5B5A66D6F24}"/>
              </a:ext>
            </a:extLst>
          </p:cNvPr>
          <p:cNvGraphicFramePr>
            <a:graphicFrameLocks noGrp="1"/>
          </p:cNvGraphicFramePr>
          <p:nvPr/>
        </p:nvGraphicFramePr>
        <p:xfrm>
          <a:off x="399143" y="3007695"/>
          <a:ext cx="8451210" cy="443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2121">
                  <a:extLst>
                    <a:ext uri="{9D8B030D-6E8A-4147-A177-3AD203B41FA5}">
                      <a16:colId xmlns:a16="http://schemas.microsoft.com/office/drawing/2014/main" val="1613140015"/>
                    </a:ext>
                  </a:extLst>
                </a:gridCol>
                <a:gridCol w="942121">
                  <a:extLst>
                    <a:ext uri="{9D8B030D-6E8A-4147-A177-3AD203B41FA5}">
                      <a16:colId xmlns:a16="http://schemas.microsoft.com/office/drawing/2014/main" val="3015063627"/>
                    </a:ext>
                  </a:extLst>
                </a:gridCol>
                <a:gridCol w="942121">
                  <a:extLst>
                    <a:ext uri="{9D8B030D-6E8A-4147-A177-3AD203B41FA5}">
                      <a16:colId xmlns:a16="http://schemas.microsoft.com/office/drawing/2014/main" val="253732210"/>
                    </a:ext>
                  </a:extLst>
                </a:gridCol>
                <a:gridCol w="942121">
                  <a:extLst>
                    <a:ext uri="{9D8B030D-6E8A-4147-A177-3AD203B41FA5}">
                      <a16:colId xmlns:a16="http://schemas.microsoft.com/office/drawing/2014/main" val="356078274"/>
                    </a:ext>
                  </a:extLst>
                </a:gridCol>
                <a:gridCol w="847344">
                  <a:extLst>
                    <a:ext uri="{9D8B030D-6E8A-4147-A177-3AD203B41FA5}">
                      <a16:colId xmlns:a16="http://schemas.microsoft.com/office/drawing/2014/main" val="2676761090"/>
                    </a:ext>
                  </a:extLst>
                </a:gridCol>
                <a:gridCol w="728518">
                  <a:extLst>
                    <a:ext uri="{9D8B030D-6E8A-4147-A177-3AD203B41FA5}">
                      <a16:colId xmlns:a16="http://schemas.microsoft.com/office/drawing/2014/main" val="1534327718"/>
                    </a:ext>
                  </a:extLst>
                </a:gridCol>
                <a:gridCol w="776716">
                  <a:extLst>
                    <a:ext uri="{9D8B030D-6E8A-4147-A177-3AD203B41FA5}">
                      <a16:colId xmlns:a16="http://schemas.microsoft.com/office/drawing/2014/main" val="1591669518"/>
                    </a:ext>
                  </a:extLst>
                </a:gridCol>
                <a:gridCol w="776716">
                  <a:extLst>
                    <a:ext uri="{9D8B030D-6E8A-4147-A177-3AD203B41FA5}">
                      <a16:colId xmlns:a16="http://schemas.microsoft.com/office/drawing/2014/main" val="1844042208"/>
                    </a:ext>
                  </a:extLst>
                </a:gridCol>
                <a:gridCol w="776716">
                  <a:extLst>
                    <a:ext uri="{9D8B030D-6E8A-4147-A177-3AD203B41FA5}">
                      <a16:colId xmlns:a16="http://schemas.microsoft.com/office/drawing/2014/main" val="186659284"/>
                    </a:ext>
                  </a:extLst>
                </a:gridCol>
                <a:gridCol w="776716">
                  <a:extLst>
                    <a:ext uri="{9D8B030D-6E8A-4147-A177-3AD203B41FA5}">
                      <a16:colId xmlns:a16="http://schemas.microsoft.com/office/drawing/2014/main" val="2178372411"/>
                    </a:ext>
                  </a:extLst>
                </a:gridCol>
              </a:tblGrid>
              <a:tr h="443716">
                <a:tc>
                  <a:txBody>
                    <a:bodyPr/>
                    <a:lstStyle/>
                    <a:p>
                      <a:r>
                        <a:rPr lang="en-US" sz="900" dirty="0"/>
                        <a:t>Ver-IHL (1B)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TOS (1B)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Total Length (2B)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Identification (2B)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F-Fragment Offset (2B)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TTL (1B)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PROTOCOL (1B)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CSUM (2B)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SOURCE ADDR (4B)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DEST ADDR (4B)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88476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5018EA9-75BE-AC22-AE80-3F30F04EB746}"/>
              </a:ext>
            </a:extLst>
          </p:cNvPr>
          <p:cNvGraphicFramePr>
            <a:graphicFrameLocks noGrp="1"/>
          </p:cNvGraphicFramePr>
          <p:nvPr/>
        </p:nvGraphicFramePr>
        <p:xfrm>
          <a:off x="385917" y="2376967"/>
          <a:ext cx="8451207" cy="443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6629">
                  <a:extLst>
                    <a:ext uri="{9D8B030D-6E8A-4147-A177-3AD203B41FA5}">
                      <a16:colId xmlns:a16="http://schemas.microsoft.com/office/drawing/2014/main" val="1613140015"/>
                    </a:ext>
                  </a:extLst>
                </a:gridCol>
                <a:gridCol w="2173515">
                  <a:extLst>
                    <a:ext uri="{9D8B030D-6E8A-4147-A177-3AD203B41FA5}">
                      <a16:colId xmlns:a16="http://schemas.microsoft.com/office/drawing/2014/main" val="2676761090"/>
                    </a:ext>
                  </a:extLst>
                </a:gridCol>
                <a:gridCol w="1868714">
                  <a:extLst>
                    <a:ext uri="{9D8B030D-6E8A-4147-A177-3AD203B41FA5}">
                      <a16:colId xmlns:a16="http://schemas.microsoft.com/office/drawing/2014/main" val="1534327718"/>
                    </a:ext>
                  </a:extLst>
                </a:gridCol>
                <a:gridCol w="1992349">
                  <a:extLst>
                    <a:ext uri="{9D8B030D-6E8A-4147-A177-3AD203B41FA5}">
                      <a16:colId xmlns:a16="http://schemas.microsoft.com/office/drawing/2014/main" val="1591669518"/>
                    </a:ext>
                  </a:extLst>
                </a:gridCol>
              </a:tblGrid>
              <a:tr h="443716">
                <a:tc>
                  <a:txBody>
                    <a:bodyPr/>
                    <a:lstStyle/>
                    <a:p>
                      <a:r>
                        <a:rPr lang="en-US" dirty="0"/>
                        <a:t>DESTINATION MAC (6B)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SOURCE MAC (6B)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ETHERTYPE (2B)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88476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8E8784F-472C-72CC-BEDF-F1E8BDE79721}"/>
              </a:ext>
            </a:extLst>
          </p:cNvPr>
          <p:cNvGraphicFramePr>
            <a:graphicFrameLocks noGrp="1"/>
          </p:cNvGraphicFramePr>
          <p:nvPr/>
        </p:nvGraphicFramePr>
        <p:xfrm>
          <a:off x="399143" y="3620924"/>
          <a:ext cx="6897778" cy="443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2121">
                  <a:extLst>
                    <a:ext uri="{9D8B030D-6E8A-4147-A177-3AD203B41FA5}">
                      <a16:colId xmlns:a16="http://schemas.microsoft.com/office/drawing/2014/main" val="1613140015"/>
                    </a:ext>
                  </a:extLst>
                </a:gridCol>
                <a:gridCol w="942121">
                  <a:extLst>
                    <a:ext uri="{9D8B030D-6E8A-4147-A177-3AD203B41FA5}">
                      <a16:colId xmlns:a16="http://schemas.microsoft.com/office/drawing/2014/main" val="3015063627"/>
                    </a:ext>
                  </a:extLst>
                </a:gridCol>
                <a:gridCol w="942121">
                  <a:extLst>
                    <a:ext uri="{9D8B030D-6E8A-4147-A177-3AD203B41FA5}">
                      <a16:colId xmlns:a16="http://schemas.microsoft.com/office/drawing/2014/main" val="253732210"/>
                    </a:ext>
                  </a:extLst>
                </a:gridCol>
                <a:gridCol w="942121">
                  <a:extLst>
                    <a:ext uri="{9D8B030D-6E8A-4147-A177-3AD203B41FA5}">
                      <a16:colId xmlns:a16="http://schemas.microsoft.com/office/drawing/2014/main" val="356078274"/>
                    </a:ext>
                  </a:extLst>
                </a:gridCol>
                <a:gridCol w="847344">
                  <a:extLst>
                    <a:ext uri="{9D8B030D-6E8A-4147-A177-3AD203B41FA5}">
                      <a16:colId xmlns:a16="http://schemas.microsoft.com/office/drawing/2014/main" val="2676761090"/>
                    </a:ext>
                  </a:extLst>
                </a:gridCol>
                <a:gridCol w="728518">
                  <a:extLst>
                    <a:ext uri="{9D8B030D-6E8A-4147-A177-3AD203B41FA5}">
                      <a16:colId xmlns:a16="http://schemas.microsoft.com/office/drawing/2014/main" val="1534327718"/>
                    </a:ext>
                  </a:extLst>
                </a:gridCol>
                <a:gridCol w="776716">
                  <a:extLst>
                    <a:ext uri="{9D8B030D-6E8A-4147-A177-3AD203B41FA5}">
                      <a16:colId xmlns:a16="http://schemas.microsoft.com/office/drawing/2014/main" val="1591669518"/>
                    </a:ext>
                  </a:extLst>
                </a:gridCol>
                <a:gridCol w="776716">
                  <a:extLst>
                    <a:ext uri="{9D8B030D-6E8A-4147-A177-3AD203B41FA5}">
                      <a16:colId xmlns:a16="http://schemas.microsoft.com/office/drawing/2014/main" val="1844042208"/>
                    </a:ext>
                  </a:extLst>
                </a:gridCol>
              </a:tblGrid>
              <a:tr h="443716">
                <a:tc>
                  <a:txBody>
                    <a:bodyPr/>
                    <a:lstStyle/>
                    <a:p>
                      <a:r>
                        <a:rPr lang="en-US" sz="900" dirty="0"/>
                        <a:t>HTYPE (2B)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PTYPE (2B)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HLEN (1B)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OPCODE (2B)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SENDER MAC (6B)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SENDER IP (4B)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TARGET MAC (6B)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TARGET IP (4B)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88476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8BD9851-43FD-90A2-8D85-736EDBC07E1F}"/>
              </a:ext>
            </a:extLst>
          </p:cNvPr>
          <p:cNvGraphicFramePr>
            <a:graphicFrameLocks noGrp="1"/>
          </p:cNvGraphicFramePr>
          <p:nvPr/>
        </p:nvGraphicFramePr>
        <p:xfrm>
          <a:off x="399143" y="4234153"/>
          <a:ext cx="3812132" cy="443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3033">
                  <a:extLst>
                    <a:ext uri="{9D8B030D-6E8A-4147-A177-3AD203B41FA5}">
                      <a16:colId xmlns:a16="http://schemas.microsoft.com/office/drawing/2014/main" val="1613140015"/>
                    </a:ext>
                  </a:extLst>
                </a:gridCol>
                <a:gridCol w="953033">
                  <a:extLst>
                    <a:ext uri="{9D8B030D-6E8A-4147-A177-3AD203B41FA5}">
                      <a16:colId xmlns:a16="http://schemas.microsoft.com/office/drawing/2014/main" val="3015063627"/>
                    </a:ext>
                  </a:extLst>
                </a:gridCol>
                <a:gridCol w="953033">
                  <a:extLst>
                    <a:ext uri="{9D8B030D-6E8A-4147-A177-3AD203B41FA5}">
                      <a16:colId xmlns:a16="http://schemas.microsoft.com/office/drawing/2014/main" val="1449619909"/>
                    </a:ext>
                  </a:extLst>
                </a:gridCol>
                <a:gridCol w="953033">
                  <a:extLst>
                    <a:ext uri="{9D8B030D-6E8A-4147-A177-3AD203B41FA5}">
                      <a16:colId xmlns:a16="http://schemas.microsoft.com/office/drawing/2014/main" val="253732210"/>
                    </a:ext>
                  </a:extLst>
                </a:gridCol>
              </a:tblGrid>
              <a:tr h="443716">
                <a:tc>
                  <a:txBody>
                    <a:bodyPr/>
                    <a:lstStyle/>
                    <a:p>
                      <a:r>
                        <a:rPr lang="en-US" sz="900" dirty="0"/>
                        <a:t>TYPE (1B)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CODE (1B)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CHECKSUM (2B)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ICMP DATA (4B)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88476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22E68F9-D3FD-E89D-15F0-2A325E8D50C1}"/>
              </a:ext>
            </a:extLst>
          </p:cNvPr>
          <p:cNvSpPr txBox="1"/>
          <p:nvPr/>
        </p:nvSpPr>
        <p:spPr>
          <a:xfrm>
            <a:off x="40844" y="2078182"/>
            <a:ext cx="400110" cy="86243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dirty="0"/>
              <a:t>Ethernet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228071-DEF9-0F06-434C-61DC72E07D4F}"/>
              </a:ext>
            </a:extLst>
          </p:cNvPr>
          <p:cNvSpPr txBox="1"/>
          <p:nvPr/>
        </p:nvSpPr>
        <p:spPr>
          <a:xfrm>
            <a:off x="40844" y="2687221"/>
            <a:ext cx="400110" cy="76419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dirty="0"/>
              <a:t>IPv4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559769-DD39-D16A-F236-BEF65B06D4DD}"/>
              </a:ext>
            </a:extLst>
          </p:cNvPr>
          <p:cNvSpPr txBox="1"/>
          <p:nvPr/>
        </p:nvSpPr>
        <p:spPr>
          <a:xfrm>
            <a:off x="40844" y="3300450"/>
            <a:ext cx="400110" cy="76419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b="1" dirty="0"/>
              <a:t>ARP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04389C-14F8-4799-0AD0-64910D90CA0E}"/>
              </a:ext>
            </a:extLst>
          </p:cNvPr>
          <p:cNvSpPr txBox="1"/>
          <p:nvPr/>
        </p:nvSpPr>
        <p:spPr>
          <a:xfrm>
            <a:off x="40844" y="3910652"/>
            <a:ext cx="400110" cy="76419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dirty="0"/>
              <a:t>ICMP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9FBB3C9-713D-C24B-7A37-045C83960E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18246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303300" y="2591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Address Resolution Protocol (ARP)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293650" y="1027850"/>
            <a:ext cx="8388000" cy="38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ARP determines the next-hop MAC that corresponds to the next-hop IP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Your router needs to generate and process ARP requests/replies.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You are required to cache ARP replies that your router receives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We handle the cache timeout for you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Font typeface="Lato"/>
              <a:buChar char="●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During the packet forwarding process, the router should first check the ARP cache for the MAC address before sending an ARP request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FA023E-F24B-D829-0198-B9426350E1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>
            <a:spLocks noGrp="1"/>
          </p:cNvSpPr>
          <p:nvPr>
            <p:ph type="title"/>
          </p:nvPr>
        </p:nvSpPr>
        <p:spPr>
          <a:xfrm>
            <a:off x="303300" y="2591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Address Resolution Protocol (ARP)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293650" y="951650"/>
            <a:ext cx="8388000" cy="39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If your router receives an ARP packet: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Check if it’s an ARP request or ARP reply: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If ARP request: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  <a:p>
            <a:pPr marL="137160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■"/>
            </a:pPr>
            <a:r>
              <a:rPr lang="en" sz="1800" dirty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Check if its target IP address is one of our router’s IP addresses.</a:t>
            </a:r>
            <a:endParaRPr sz="1800" dirty="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182880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lang="en" sz="1800" dirty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If yes, </a:t>
            </a:r>
            <a:r>
              <a:rPr lang="en" sz="1800" b="1" dirty="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send ARP reply</a:t>
            </a:r>
            <a:endParaRPr sz="1800" b="1" dirty="0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  <a:p>
            <a:pPr marL="182880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lang="en" sz="1800" dirty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Else, drop it</a:t>
            </a:r>
            <a:endParaRPr sz="1800" dirty="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If ARP reply: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  <a:p>
            <a:pPr marL="137160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■"/>
            </a:pPr>
            <a:r>
              <a:rPr lang="en" sz="1800" b="1" dirty="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Cache the ARP reply</a:t>
            </a:r>
            <a:r>
              <a:rPr lang="en" sz="1800" dirty="0">
                <a:latin typeface="Lato"/>
                <a:ea typeface="Lato"/>
                <a:cs typeface="Lato"/>
                <a:sym typeface="Lato"/>
              </a:rPr>
              <a:t> as long as the target IP address is one of your router’s IP addresses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  <a:p>
            <a:pPr marL="137160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■"/>
            </a:pPr>
            <a:r>
              <a:rPr lang="en" sz="1800" dirty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If there is an ARP request waiting on the reply</a:t>
            </a:r>
            <a:endParaRPr sz="1800" dirty="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182880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 b="1" dirty="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Send IP packets</a:t>
            </a:r>
            <a:r>
              <a:rPr lang="en" sz="1800" dirty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waiting on this ARP reply</a:t>
            </a:r>
            <a:endParaRPr sz="1800" dirty="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182880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lang="en" sz="1800" dirty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Remove corresponding ARP request from queue</a:t>
            </a:r>
            <a:endParaRPr sz="1800" dirty="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1F17FE-8DB0-CD04-1012-A9432B16E6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445CA4E7-C7A3-CCCC-9970-828385E15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>
            <a:extLst>
              <a:ext uri="{FF2B5EF4-FFF2-40B4-BE49-F238E27FC236}">
                <a16:creationId xmlns:a16="http://schemas.microsoft.com/office/drawing/2014/main" id="{2EF9788B-AC9D-8A78-D902-FF0A900B80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3300" y="2591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4"/>
                </a:solidFill>
              </a:rPr>
              <a:t>Raw Ethernet Frames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87" name="Google Shape;87;p15">
            <a:extLst>
              <a:ext uri="{FF2B5EF4-FFF2-40B4-BE49-F238E27FC236}">
                <a16:creationId xmlns:a16="http://schemas.microsoft.com/office/drawing/2014/main" id="{E9A65B78-BB4F-8159-C338-F4C47B4B65BB}"/>
              </a:ext>
            </a:extLst>
          </p:cNvPr>
          <p:cNvSpPr txBox="1"/>
          <p:nvPr/>
        </p:nvSpPr>
        <p:spPr>
          <a:xfrm>
            <a:off x="293647" y="987935"/>
            <a:ext cx="8388000" cy="37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Your router will receive and send </a:t>
            </a:r>
            <a:r>
              <a:rPr lang="en" sz="1800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raw Ethernet </a:t>
            </a:r>
            <a:r>
              <a:rPr lang="en" sz="1800" dirty="0">
                <a:latin typeface="Lato"/>
                <a:ea typeface="Lato"/>
                <a:cs typeface="Lato"/>
                <a:sym typeface="Lato"/>
              </a:rPr>
              <a:t>frames.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6A376A12-46EC-3505-C97C-21F2626B0115}"/>
              </a:ext>
            </a:extLst>
          </p:cNvPr>
          <p:cNvGraphicFramePr>
            <a:graphicFrameLocks noGrp="1"/>
          </p:cNvGraphicFramePr>
          <p:nvPr/>
        </p:nvGraphicFramePr>
        <p:xfrm>
          <a:off x="412368" y="1634903"/>
          <a:ext cx="8424756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3666942074"/>
                    </a:ext>
                  </a:extLst>
                </a:gridCol>
                <a:gridCol w="1182914">
                  <a:extLst>
                    <a:ext uri="{9D8B030D-6E8A-4147-A177-3AD203B41FA5}">
                      <a16:colId xmlns:a16="http://schemas.microsoft.com/office/drawing/2014/main" val="1613140015"/>
                    </a:ext>
                  </a:extLst>
                </a:gridCol>
                <a:gridCol w="1618343">
                  <a:extLst>
                    <a:ext uri="{9D8B030D-6E8A-4147-A177-3AD203B41FA5}">
                      <a16:colId xmlns:a16="http://schemas.microsoft.com/office/drawing/2014/main" val="2676761090"/>
                    </a:ext>
                  </a:extLst>
                </a:gridCol>
                <a:gridCol w="2227943">
                  <a:extLst>
                    <a:ext uri="{9D8B030D-6E8A-4147-A177-3AD203B41FA5}">
                      <a16:colId xmlns:a16="http://schemas.microsoft.com/office/drawing/2014/main" val="1534327718"/>
                    </a:ext>
                  </a:extLst>
                </a:gridCol>
                <a:gridCol w="1237343">
                  <a:extLst>
                    <a:ext uri="{9D8B030D-6E8A-4147-A177-3AD203B41FA5}">
                      <a16:colId xmlns:a16="http://schemas.microsoft.com/office/drawing/2014/main" val="1591669518"/>
                    </a:ext>
                  </a:extLst>
                </a:gridCol>
                <a:gridCol w="1193013">
                  <a:extLst>
                    <a:ext uri="{9D8B030D-6E8A-4147-A177-3AD203B41FA5}">
                      <a16:colId xmlns:a16="http://schemas.microsoft.com/office/drawing/2014/main" val="4166719051"/>
                    </a:ext>
                  </a:extLst>
                </a:gridCol>
              </a:tblGrid>
              <a:tr h="334736">
                <a:tc>
                  <a:txBody>
                    <a:bodyPr/>
                    <a:lstStyle/>
                    <a:p>
                      <a:r>
                        <a:rPr lang="en-US" sz="1200" dirty="0"/>
                        <a:t>PHYSICAL preamble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ETHERNET Header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Network Header</a:t>
                      </a:r>
                    </a:p>
                    <a:p>
                      <a:r>
                        <a:rPr lang="en-US" dirty="0">
                          <a:solidFill>
                            <a:schemeClr val="bg2">
                              <a:lumMod val="85000"/>
                              <a:lumOff val="15000"/>
                            </a:schemeClr>
                          </a:solidFill>
                        </a:rPr>
                        <a:t>IPv4</a:t>
                      </a:r>
                      <a:r>
                        <a:rPr lang="en-US" dirty="0"/>
                        <a:t>, </a:t>
                      </a:r>
                      <a:r>
                        <a:rPr lang="en-US" dirty="0">
                          <a:solidFill>
                            <a:schemeClr val="accent3"/>
                          </a:solidFill>
                        </a:rPr>
                        <a:t>ARP</a:t>
                      </a:r>
                      <a:r>
                        <a:rPr lang="en-US" dirty="0"/>
                        <a:t>,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Transport Header</a:t>
                      </a:r>
                    </a:p>
                    <a:p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ICMP</a:t>
                      </a:r>
                      <a:r>
                        <a:rPr lang="en-US" sz="1400" dirty="0"/>
                        <a:t>, UDP, TCP,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Payload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END of frame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88476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405203F-178A-FA8E-3813-74A0E6D97B98}"/>
              </a:ext>
            </a:extLst>
          </p:cNvPr>
          <p:cNvGraphicFramePr>
            <a:graphicFrameLocks noGrp="1"/>
          </p:cNvGraphicFramePr>
          <p:nvPr/>
        </p:nvGraphicFramePr>
        <p:xfrm>
          <a:off x="399143" y="3007695"/>
          <a:ext cx="8451210" cy="443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2121">
                  <a:extLst>
                    <a:ext uri="{9D8B030D-6E8A-4147-A177-3AD203B41FA5}">
                      <a16:colId xmlns:a16="http://schemas.microsoft.com/office/drawing/2014/main" val="1613140015"/>
                    </a:ext>
                  </a:extLst>
                </a:gridCol>
                <a:gridCol w="942121">
                  <a:extLst>
                    <a:ext uri="{9D8B030D-6E8A-4147-A177-3AD203B41FA5}">
                      <a16:colId xmlns:a16="http://schemas.microsoft.com/office/drawing/2014/main" val="3015063627"/>
                    </a:ext>
                  </a:extLst>
                </a:gridCol>
                <a:gridCol w="942121">
                  <a:extLst>
                    <a:ext uri="{9D8B030D-6E8A-4147-A177-3AD203B41FA5}">
                      <a16:colId xmlns:a16="http://schemas.microsoft.com/office/drawing/2014/main" val="253732210"/>
                    </a:ext>
                  </a:extLst>
                </a:gridCol>
                <a:gridCol w="942121">
                  <a:extLst>
                    <a:ext uri="{9D8B030D-6E8A-4147-A177-3AD203B41FA5}">
                      <a16:colId xmlns:a16="http://schemas.microsoft.com/office/drawing/2014/main" val="356078274"/>
                    </a:ext>
                  </a:extLst>
                </a:gridCol>
                <a:gridCol w="847344">
                  <a:extLst>
                    <a:ext uri="{9D8B030D-6E8A-4147-A177-3AD203B41FA5}">
                      <a16:colId xmlns:a16="http://schemas.microsoft.com/office/drawing/2014/main" val="2676761090"/>
                    </a:ext>
                  </a:extLst>
                </a:gridCol>
                <a:gridCol w="728518">
                  <a:extLst>
                    <a:ext uri="{9D8B030D-6E8A-4147-A177-3AD203B41FA5}">
                      <a16:colId xmlns:a16="http://schemas.microsoft.com/office/drawing/2014/main" val="1534327718"/>
                    </a:ext>
                  </a:extLst>
                </a:gridCol>
                <a:gridCol w="776716">
                  <a:extLst>
                    <a:ext uri="{9D8B030D-6E8A-4147-A177-3AD203B41FA5}">
                      <a16:colId xmlns:a16="http://schemas.microsoft.com/office/drawing/2014/main" val="1591669518"/>
                    </a:ext>
                  </a:extLst>
                </a:gridCol>
                <a:gridCol w="776716">
                  <a:extLst>
                    <a:ext uri="{9D8B030D-6E8A-4147-A177-3AD203B41FA5}">
                      <a16:colId xmlns:a16="http://schemas.microsoft.com/office/drawing/2014/main" val="1844042208"/>
                    </a:ext>
                  </a:extLst>
                </a:gridCol>
                <a:gridCol w="776716">
                  <a:extLst>
                    <a:ext uri="{9D8B030D-6E8A-4147-A177-3AD203B41FA5}">
                      <a16:colId xmlns:a16="http://schemas.microsoft.com/office/drawing/2014/main" val="186659284"/>
                    </a:ext>
                  </a:extLst>
                </a:gridCol>
                <a:gridCol w="776716">
                  <a:extLst>
                    <a:ext uri="{9D8B030D-6E8A-4147-A177-3AD203B41FA5}">
                      <a16:colId xmlns:a16="http://schemas.microsoft.com/office/drawing/2014/main" val="2178372411"/>
                    </a:ext>
                  </a:extLst>
                </a:gridCol>
              </a:tblGrid>
              <a:tr h="443716">
                <a:tc>
                  <a:txBody>
                    <a:bodyPr/>
                    <a:lstStyle/>
                    <a:p>
                      <a:r>
                        <a:rPr lang="en-US" sz="900" dirty="0"/>
                        <a:t>Ver-IHL (1B)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TOS (1B)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Total Length (2B)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Identification (2B)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F-Fragment Offset (2B)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TTL (1B)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PROTOCOL (1B)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CSUM (2B)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SOURCE ADDR (4B)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DEST ADDR (4B)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88476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6499DDA-6211-0F0F-58D6-912C33E03856}"/>
              </a:ext>
            </a:extLst>
          </p:cNvPr>
          <p:cNvGraphicFramePr>
            <a:graphicFrameLocks noGrp="1"/>
          </p:cNvGraphicFramePr>
          <p:nvPr/>
        </p:nvGraphicFramePr>
        <p:xfrm>
          <a:off x="385917" y="2376967"/>
          <a:ext cx="8451207" cy="443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6629">
                  <a:extLst>
                    <a:ext uri="{9D8B030D-6E8A-4147-A177-3AD203B41FA5}">
                      <a16:colId xmlns:a16="http://schemas.microsoft.com/office/drawing/2014/main" val="1613140015"/>
                    </a:ext>
                  </a:extLst>
                </a:gridCol>
                <a:gridCol w="2173515">
                  <a:extLst>
                    <a:ext uri="{9D8B030D-6E8A-4147-A177-3AD203B41FA5}">
                      <a16:colId xmlns:a16="http://schemas.microsoft.com/office/drawing/2014/main" val="2676761090"/>
                    </a:ext>
                  </a:extLst>
                </a:gridCol>
                <a:gridCol w="1868714">
                  <a:extLst>
                    <a:ext uri="{9D8B030D-6E8A-4147-A177-3AD203B41FA5}">
                      <a16:colId xmlns:a16="http://schemas.microsoft.com/office/drawing/2014/main" val="1534327718"/>
                    </a:ext>
                  </a:extLst>
                </a:gridCol>
                <a:gridCol w="1992349">
                  <a:extLst>
                    <a:ext uri="{9D8B030D-6E8A-4147-A177-3AD203B41FA5}">
                      <a16:colId xmlns:a16="http://schemas.microsoft.com/office/drawing/2014/main" val="1591669518"/>
                    </a:ext>
                  </a:extLst>
                </a:gridCol>
              </a:tblGrid>
              <a:tr h="443716">
                <a:tc>
                  <a:txBody>
                    <a:bodyPr/>
                    <a:lstStyle/>
                    <a:p>
                      <a:r>
                        <a:rPr lang="en-US" dirty="0"/>
                        <a:t>DESTINATION MAC (6B)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SOURCE MAC (6B)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ETHERTYPE (2B)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88476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96AFDA7-45DF-84F4-C73C-0A81C6C3DB77}"/>
              </a:ext>
            </a:extLst>
          </p:cNvPr>
          <p:cNvGraphicFramePr>
            <a:graphicFrameLocks noGrp="1"/>
          </p:cNvGraphicFramePr>
          <p:nvPr/>
        </p:nvGraphicFramePr>
        <p:xfrm>
          <a:off x="399143" y="3620924"/>
          <a:ext cx="6897778" cy="443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2121">
                  <a:extLst>
                    <a:ext uri="{9D8B030D-6E8A-4147-A177-3AD203B41FA5}">
                      <a16:colId xmlns:a16="http://schemas.microsoft.com/office/drawing/2014/main" val="1613140015"/>
                    </a:ext>
                  </a:extLst>
                </a:gridCol>
                <a:gridCol w="942121">
                  <a:extLst>
                    <a:ext uri="{9D8B030D-6E8A-4147-A177-3AD203B41FA5}">
                      <a16:colId xmlns:a16="http://schemas.microsoft.com/office/drawing/2014/main" val="3015063627"/>
                    </a:ext>
                  </a:extLst>
                </a:gridCol>
                <a:gridCol w="942121">
                  <a:extLst>
                    <a:ext uri="{9D8B030D-6E8A-4147-A177-3AD203B41FA5}">
                      <a16:colId xmlns:a16="http://schemas.microsoft.com/office/drawing/2014/main" val="253732210"/>
                    </a:ext>
                  </a:extLst>
                </a:gridCol>
                <a:gridCol w="942121">
                  <a:extLst>
                    <a:ext uri="{9D8B030D-6E8A-4147-A177-3AD203B41FA5}">
                      <a16:colId xmlns:a16="http://schemas.microsoft.com/office/drawing/2014/main" val="356078274"/>
                    </a:ext>
                  </a:extLst>
                </a:gridCol>
                <a:gridCol w="847344">
                  <a:extLst>
                    <a:ext uri="{9D8B030D-6E8A-4147-A177-3AD203B41FA5}">
                      <a16:colId xmlns:a16="http://schemas.microsoft.com/office/drawing/2014/main" val="2676761090"/>
                    </a:ext>
                  </a:extLst>
                </a:gridCol>
                <a:gridCol w="728518">
                  <a:extLst>
                    <a:ext uri="{9D8B030D-6E8A-4147-A177-3AD203B41FA5}">
                      <a16:colId xmlns:a16="http://schemas.microsoft.com/office/drawing/2014/main" val="1534327718"/>
                    </a:ext>
                  </a:extLst>
                </a:gridCol>
                <a:gridCol w="776716">
                  <a:extLst>
                    <a:ext uri="{9D8B030D-6E8A-4147-A177-3AD203B41FA5}">
                      <a16:colId xmlns:a16="http://schemas.microsoft.com/office/drawing/2014/main" val="1591669518"/>
                    </a:ext>
                  </a:extLst>
                </a:gridCol>
                <a:gridCol w="776716">
                  <a:extLst>
                    <a:ext uri="{9D8B030D-6E8A-4147-A177-3AD203B41FA5}">
                      <a16:colId xmlns:a16="http://schemas.microsoft.com/office/drawing/2014/main" val="1844042208"/>
                    </a:ext>
                  </a:extLst>
                </a:gridCol>
              </a:tblGrid>
              <a:tr h="443716">
                <a:tc>
                  <a:txBody>
                    <a:bodyPr/>
                    <a:lstStyle/>
                    <a:p>
                      <a:r>
                        <a:rPr lang="en-US" sz="900" dirty="0"/>
                        <a:t>HTYPE (2B)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PTYPE (2B)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HLEN (1B)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OPCODE (2B)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SENDER MAC (6B)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SENDER IP (4B)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TARGET MAC (6B)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TARGET IP (4B)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88476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8CE9100-A9C1-1BBD-B1A6-E1D3764930AC}"/>
              </a:ext>
            </a:extLst>
          </p:cNvPr>
          <p:cNvGraphicFramePr>
            <a:graphicFrameLocks noGrp="1"/>
          </p:cNvGraphicFramePr>
          <p:nvPr/>
        </p:nvGraphicFramePr>
        <p:xfrm>
          <a:off x="399143" y="4234153"/>
          <a:ext cx="3812132" cy="443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3033">
                  <a:extLst>
                    <a:ext uri="{9D8B030D-6E8A-4147-A177-3AD203B41FA5}">
                      <a16:colId xmlns:a16="http://schemas.microsoft.com/office/drawing/2014/main" val="1613140015"/>
                    </a:ext>
                  </a:extLst>
                </a:gridCol>
                <a:gridCol w="953033">
                  <a:extLst>
                    <a:ext uri="{9D8B030D-6E8A-4147-A177-3AD203B41FA5}">
                      <a16:colId xmlns:a16="http://schemas.microsoft.com/office/drawing/2014/main" val="3015063627"/>
                    </a:ext>
                  </a:extLst>
                </a:gridCol>
                <a:gridCol w="953033">
                  <a:extLst>
                    <a:ext uri="{9D8B030D-6E8A-4147-A177-3AD203B41FA5}">
                      <a16:colId xmlns:a16="http://schemas.microsoft.com/office/drawing/2014/main" val="1449619909"/>
                    </a:ext>
                  </a:extLst>
                </a:gridCol>
                <a:gridCol w="953033">
                  <a:extLst>
                    <a:ext uri="{9D8B030D-6E8A-4147-A177-3AD203B41FA5}">
                      <a16:colId xmlns:a16="http://schemas.microsoft.com/office/drawing/2014/main" val="253732210"/>
                    </a:ext>
                  </a:extLst>
                </a:gridCol>
              </a:tblGrid>
              <a:tr h="443716">
                <a:tc>
                  <a:txBody>
                    <a:bodyPr/>
                    <a:lstStyle/>
                    <a:p>
                      <a:r>
                        <a:rPr lang="en-US" sz="900" dirty="0"/>
                        <a:t>TYPE (1B)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CODE (1B)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CHECKSUM (2B)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ICMP DATA (4B)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88476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BC7CC0F-AEE8-5793-607A-8B57D1847A03}"/>
              </a:ext>
            </a:extLst>
          </p:cNvPr>
          <p:cNvSpPr txBox="1"/>
          <p:nvPr/>
        </p:nvSpPr>
        <p:spPr>
          <a:xfrm>
            <a:off x="40844" y="2078182"/>
            <a:ext cx="400110" cy="86243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dirty="0"/>
              <a:t>Ethernet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FBCBEA-6768-75E7-89B1-A1B32CE9E2B1}"/>
              </a:ext>
            </a:extLst>
          </p:cNvPr>
          <p:cNvSpPr txBox="1"/>
          <p:nvPr/>
        </p:nvSpPr>
        <p:spPr>
          <a:xfrm>
            <a:off x="40844" y="2687221"/>
            <a:ext cx="400110" cy="76419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b="1" dirty="0"/>
              <a:t>IPv4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0D20D5-0F58-FA72-5685-B4974FAF409E}"/>
              </a:ext>
            </a:extLst>
          </p:cNvPr>
          <p:cNvSpPr txBox="1"/>
          <p:nvPr/>
        </p:nvSpPr>
        <p:spPr>
          <a:xfrm>
            <a:off x="40844" y="3300450"/>
            <a:ext cx="400110" cy="76419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dirty="0"/>
              <a:t>ARP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09F0D8-1CF4-BF92-2317-F86ADDA8520C}"/>
              </a:ext>
            </a:extLst>
          </p:cNvPr>
          <p:cNvSpPr txBox="1"/>
          <p:nvPr/>
        </p:nvSpPr>
        <p:spPr>
          <a:xfrm>
            <a:off x="40844" y="3910652"/>
            <a:ext cx="400110" cy="76419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dirty="0"/>
              <a:t>ICMP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5AF7FD6-8E99-9F58-A2F5-91DE805162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55517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title"/>
          </p:nvPr>
        </p:nvSpPr>
        <p:spPr>
          <a:xfrm>
            <a:off x="303300" y="2591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4"/>
                </a:solidFill>
              </a:rPr>
              <a:t>Internet Protocol (IPv4)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293649" y="1027850"/>
            <a:ext cx="8351205" cy="30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If your router receives an IPv4 packet: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Lato"/>
              <a:buAutoNum type="arabicPeriod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Perform basic checks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alphaLcPeriod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Verify its checksum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alphaLcPeriod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Check that it meets minimum length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Lato"/>
              <a:buAutoNum type="arabicPeriod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Determine if it is destined for one of our interfaces: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alphaLcPeriod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If yes, check that it is an ICMP echo request (type 8)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  <a:p>
            <a:pPr marL="137160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romanLcPeriod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If yes, send </a:t>
            </a:r>
            <a:r>
              <a:rPr lang="en" sz="1800" b="1" dirty="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ICMP echo reply (type 0)</a:t>
            </a:r>
            <a:r>
              <a:rPr lang="en" sz="1800" b="1" dirty="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800" dirty="0">
                <a:latin typeface="Lato"/>
                <a:ea typeface="Lato"/>
                <a:cs typeface="Lato"/>
                <a:sym typeface="Lato"/>
              </a:rPr>
              <a:t>back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  <a:p>
            <a:pPr marL="137160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romanLcPeriod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Else, drop it. If not even an ICMP packet, send </a:t>
            </a:r>
            <a:r>
              <a:rPr lang="en" sz="1800" b="1" dirty="0">
                <a:solidFill>
                  <a:srgbClr val="51B9A3"/>
                </a:solidFill>
                <a:latin typeface="Lato"/>
                <a:ea typeface="Lato"/>
                <a:cs typeface="Lato"/>
                <a:sym typeface="Lato"/>
              </a:rPr>
              <a:t>ICMP port unreachable (type 3, code 3)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alphaLcPeriod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If not destined for our interfaces, IPv4 packet</a:t>
            </a:r>
            <a:r>
              <a:rPr lang="en" sz="1800" b="1" dirty="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 must be forwarded</a:t>
            </a:r>
            <a:r>
              <a:rPr lang="en" sz="1800" dirty="0"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0031AD-9659-2E85-1781-C5408D2D26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>
            <a:spLocks noGrp="1"/>
          </p:cNvSpPr>
          <p:nvPr>
            <p:ph type="title"/>
          </p:nvPr>
        </p:nvSpPr>
        <p:spPr>
          <a:xfrm>
            <a:off x="303300" y="2591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IP Forwarding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293650" y="974975"/>
            <a:ext cx="8594100" cy="43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If packet must be forwarded: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Lato"/>
              <a:buAutoNum type="arabicPeriod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Decrement TTL by 1, recompute packet checksum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alphaLcPeriod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If TTL is expired, send </a:t>
            </a:r>
            <a:r>
              <a:rPr lang="en" sz="1800" b="1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ICMP time exceeded (type 11)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arabicPeriod"/>
            </a:pPr>
            <a:r>
              <a:rPr lang="en" sz="1800">
                <a:solidFill>
                  <a:srgbClr val="24292E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Find match for the destination IP address in the routing table</a:t>
            </a:r>
            <a:endParaRPr sz="1800">
              <a:solidFill>
                <a:srgbClr val="24292E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800"/>
              <a:buFont typeface="Lato"/>
              <a:buAutoNum type="alphaLcPeriod"/>
            </a:pPr>
            <a:r>
              <a:rPr lang="en" sz="1800">
                <a:solidFill>
                  <a:srgbClr val="24292E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If no match, send</a:t>
            </a:r>
            <a:r>
              <a:rPr lang="en" sz="1800" b="1">
                <a:solidFill>
                  <a:srgbClr val="24292E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800" b="1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ICMP destination net unreachable (type 3, code 0)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AutoNum type="alphaLcPeriod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If match, check ARP cache for next-hop MAC address corresponding to next-hop IP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137160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AutoNum type="romanLcPeriod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If ARP entry is found, </a:t>
            </a:r>
            <a:r>
              <a:rPr lang="en" sz="1800" b="1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send IP packet to its next hop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137160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AutoNum type="romanLcPeriod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If no ARP entry is found: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182880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AutoNum type="arabicPeriod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Send ARP request for next-hop IP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182880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AutoNum type="arabicPeriod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Put </a:t>
            </a:r>
            <a:r>
              <a:rPr lang="en" sz="1800" b="1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packet onto a queue</a:t>
            </a: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as it waits for an ARP reply.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8C828A-8A91-C08D-1300-48EECB0045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6335C204-CAE0-9124-565F-E07C17795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>
            <a:extLst>
              <a:ext uri="{FF2B5EF4-FFF2-40B4-BE49-F238E27FC236}">
                <a16:creationId xmlns:a16="http://schemas.microsoft.com/office/drawing/2014/main" id="{B360B1B3-0326-56BF-D6C2-C2D2EBA527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3300" y="2591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4"/>
                </a:solidFill>
              </a:rPr>
              <a:t>Raw Ethernet Frames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87" name="Google Shape;87;p15">
            <a:extLst>
              <a:ext uri="{FF2B5EF4-FFF2-40B4-BE49-F238E27FC236}">
                <a16:creationId xmlns:a16="http://schemas.microsoft.com/office/drawing/2014/main" id="{B48BF05A-6A3F-B642-9C3C-C106DFCAE276}"/>
              </a:ext>
            </a:extLst>
          </p:cNvPr>
          <p:cNvSpPr txBox="1"/>
          <p:nvPr/>
        </p:nvSpPr>
        <p:spPr>
          <a:xfrm>
            <a:off x="293647" y="987935"/>
            <a:ext cx="8388000" cy="37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Your router will receive and send </a:t>
            </a:r>
            <a:r>
              <a:rPr lang="en" sz="1800" dirty="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raw Ethernet </a:t>
            </a:r>
            <a:r>
              <a:rPr lang="en" sz="1800" dirty="0">
                <a:latin typeface="Lato"/>
                <a:ea typeface="Lato"/>
                <a:cs typeface="Lato"/>
                <a:sym typeface="Lato"/>
              </a:rPr>
              <a:t>frames.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7864C3DF-E072-37C0-A9B6-4F4CF22751B1}"/>
              </a:ext>
            </a:extLst>
          </p:cNvPr>
          <p:cNvGraphicFramePr>
            <a:graphicFrameLocks noGrp="1"/>
          </p:cNvGraphicFramePr>
          <p:nvPr/>
        </p:nvGraphicFramePr>
        <p:xfrm>
          <a:off x="412368" y="1634903"/>
          <a:ext cx="8424756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3666942074"/>
                    </a:ext>
                  </a:extLst>
                </a:gridCol>
                <a:gridCol w="1182914">
                  <a:extLst>
                    <a:ext uri="{9D8B030D-6E8A-4147-A177-3AD203B41FA5}">
                      <a16:colId xmlns:a16="http://schemas.microsoft.com/office/drawing/2014/main" val="1613140015"/>
                    </a:ext>
                  </a:extLst>
                </a:gridCol>
                <a:gridCol w="1618343">
                  <a:extLst>
                    <a:ext uri="{9D8B030D-6E8A-4147-A177-3AD203B41FA5}">
                      <a16:colId xmlns:a16="http://schemas.microsoft.com/office/drawing/2014/main" val="2676761090"/>
                    </a:ext>
                  </a:extLst>
                </a:gridCol>
                <a:gridCol w="2227943">
                  <a:extLst>
                    <a:ext uri="{9D8B030D-6E8A-4147-A177-3AD203B41FA5}">
                      <a16:colId xmlns:a16="http://schemas.microsoft.com/office/drawing/2014/main" val="1534327718"/>
                    </a:ext>
                  </a:extLst>
                </a:gridCol>
                <a:gridCol w="1237343">
                  <a:extLst>
                    <a:ext uri="{9D8B030D-6E8A-4147-A177-3AD203B41FA5}">
                      <a16:colId xmlns:a16="http://schemas.microsoft.com/office/drawing/2014/main" val="1591669518"/>
                    </a:ext>
                  </a:extLst>
                </a:gridCol>
                <a:gridCol w="1193013">
                  <a:extLst>
                    <a:ext uri="{9D8B030D-6E8A-4147-A177-3AD203B41FA5}">
                      <a16:colId xmlns:a16="http://schemas.microsoft.com/office/drawing/2014/main" val="4166719051"/>
                    </a:ext>
                  </a:extLst>
                </a:gridCol>
              </a:tblGrid>
              <a:tr h="334736">
                <a:tc>
                  <a:txBody>
                    <a:bodyPr/>
                    <a:lstStyle/>
                    <a:p>
                      <a:r>
                        <a:rPr lang="en-US" sz="1200" dirty="0"/>
                        <a:t>PHYSICAL preamble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ETHERNET Header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Network Header</a:t>
                      </a:r>
                    </a:p>
                    <a:p>
                      <a:r>
                        <a:rPr lang="en-US" dirty="0">
                          <a:solidFill>
                            <a:schemeClr val="bg2">
                              <a:lumMod val="85000"/>
                              <a:lumOff val="15000"/>
                            </a:schemeClr>
                          </a:solidFill>
                        </a:rPr>
                        <a:t>IPv4</a:t>
                      </a:r>
                      <a:r>
                        <a:rPr lang="en-US" dirty="0"/>
                        <a:t>, </a:t>
                      </a:r>
                      <a:r>
                        <a:rPr lang="en-US" dirty="0">
                          <a:solidFill>
                            <a:schemeClr val="accent3"/>
                          </a:solidFill>
                        </a:rPr>
                        <a:t>ARP</a:t>
                      </a:r>
                      <a:r>
                        <a:rPr lang="en-US" dirty="0"/>
                        <a:t>,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Transport Header</a:t>
                      </a:r>
                    </a:p>
                    <a:p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ICMP</a:t>
                      </a:r>
                      <a:r>
                        <a:rPr lang="en-US" sz="1400" dirty="0"/>
                        <a:t>, UDP, TCP,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Payload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END of frame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88476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450171-A733-6017-BE37-535012DCB4D4}"/>
              </a:ext>
            </a:extLst>
          </p:cNvPr>
          <p:cNvGraphicFramePr>
            <a:graphicFrameLocks noGrp="1"/>
          </p:cNvGraphicFramePr>
          <p:nvPr/>
        </p:nvGraphicFramePr>
        <p:xfrm>
          <a:off x="399143" y="3007695"/>
          <a:ext cx="8451210" cy="443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2121">
                  <a:extLst>
                    <a:ext uri="{9D8B030D-6E8A-4147-A177-3AD203B41FA5}">
                      <a16:colId xmlns:a16="http://schemas.microsoft.com/office/drawing/2014/main" val="1613140015"/>
                    </a:ext>
                  </a:extLst>
                </a:gridCol>
                <a:gridCol w="942121">
                  <a:extLst>
                    <a:ext uri="{9D8B030D-6E8A-4147-A177-3AD203B41FA5}">
                      <a16:colId xmlns:a16="http://schemas.microsoft.com/office/drawing/2014/main" val="3015063627"/>
                    </a:ext>
                  </a:extLst>
                </a:gridCol>
                <a:gridCol w="942121">
                  <a:extLst>
                    <a:ext uri="{9D8B030D-6E8A-4147-A177-3AD203B41FA5}">
                      <a16:colId xmlns:a16="http://schemas.microsoft.com/office/drawing/2014/main" val="253732210"/>
                    </a:ext>
                  </a:extLst>
                </a:gridCol>
                <a:gridCol w="942121">
                  <a:extLst>
                    <a:ext uri="{9D8B030D-6E8A-4147-A177-3AD203B41FA5}">
                      <a16:colId xmlns:a16="http://schemas.microsoft.com/office/drawing/2014/main" val="356078274"/>
                    </a:ext>
                  </a:extLst>
                </a:gridCol>
                <a:gridCol w="847344">
                  <a:extLst>
                    <a:ext uri="{9D8B030D-6E8A-4147-A177-3AD203B41FA5}">
                      <a16:colId xmlns:a16="http://schemas.microsoft.com/office/drawing/2014/main" val="2676761090"/>
                    </a:ext>
                  </a:extLst>
                </a:gridCol>
                <a:gridCol w="728518">
                  <a:extLst>
                    <a:ext uri="{9D8B030D-6E8A-4147-A177-3AD203B41FA5}">
                      <a16:colId xmlns:a16="http://schemas.microsoft.com/office/drawing/2014/main" val="1534327718"/>
                    </a:ext>
                  </a:extLst>
                </a:gridCol>
                <a:gridCol w="776716">
                  <a:extLst>
                    <a:ext uri="{9D8B030D-6E8A-4147-A177-3AD203B41FA5}">
                      <a16:colId xmlns:a16="http://schemas.microsoft.com/office/drawing/2014/main" val="1591669518"/>
                    </a:ext>
                  </a:extLst>
                </a:gridCol>
                <a:gridCol w="776716">
                  <a:extLst>
                    <a:ext uri="{9D8B030D-6E8A-4147-A177-3AD203B41FA5}">
                      <a16:colId xmlns:a16="http://schemas.microsoft.com/office/drawing/2014/main" val="1844042208"/>
                    </a:ext>
                  </a:extLst>
                </a:gridCol>
                <a:gridCol w="776716">
                  <a:extLst>
                    <a:ext uri="{9D8B030D-6E8A-4147-A177-3AD203B41FA5}">
                      <a16:colId xmlns:a16="http://schemas.microsoft.com/office/drawing/2014/main" val="186659284"/>
                    </a:ext>
                  </a:extLst>
                </a:gridCol>
                <a:gridCol w="776716">
                  <a:extLst>
                    <a:ext uri="{9D8B030D-6E8A-4147-A177-3AD203B41FA5}">
                      <a16:colId xmlns:a16="http://schemas.microsoft.com/office/drawing/2014/main" val="2178372411"/>
                    </a:ext>
                  </a:extLst>
                </a:gridCol>
              </a:tblGrid>
              <a:tr h="443716">
                <a:tc>
                  <a:txBody>
                    <a:bodyPr/>
                    <a:lstStyle/>
                    <a:p>
                      <a:r>
                        <a:rPr lang="en-US" sz="900" dirty="0"/>
                        <a:t>Ver-IHL (1B)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TOS (1B)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Total Length (2B)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Identification (2B)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F-Fragment Offset (2B)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TTL (1B)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PROTOCOL (1B)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CSUM (2B)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SOURCE ADDR (4B)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DEST ADDR (4B)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88476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8B1423B-27C5-2039-9C9F-70F096B9676F}"/>
              </a:ext>
            </a:extLst>
          </p:cNvPr>
          <p:cNvGraphicFramePr>
            <a:graphicFrameLocks noGrp="1"/>
          </p:cNvGraphicFramePr>
          <p:nvPr/>
        </p:nvGraphicFramePr>
        <p:xfrm>
          <a:off x="385917" y="2376967"/>
          <a:ext cx="8451207" cy="443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6629">
                  <a:extLst>
                    <a:ext uri="{9D8B030D-6E8A-4147-A177-3AD203B41FA5}">
                      <a16:colId xmlns:a16="http://schemas.microsoft.com/office/drawing/2014/main" val="1613140015"/>
                    </a:ext>
                  </a:extLst>
                </a:gridCol>
                <a:gridCol w="2173515">
                  <a:extLst>
                    <a:ext uri="{9D8B030D-6E8A-4147-A177-3AD203B41FA5}">
                      <a16:colId xmlns:a16="http://schemas.microsoft.com/office/drawing/2014/main" val="2676761090"/>
                    </a:ext>
                  </a:extLst>
                </a:gridCol>
                <a:gridCol w="1868714">
                  <a:extLst>
                    <a:ext uri="{9D8B030D-6E8A-4147-A177-3AD203B41FA5}">
                      <a16:colId xmlns:a16="http://schemas.microsoft.com/office/drawing/2014/main" val="1534327718"/>
                    </a:ext>
                  </a:extLst>
                </a:gridCol>
                <a:gridCol w="1992349">
                  <a:extLst>
                    <a:ext uri="{9D8B030D-6E8A-4147-A177-3AD203B41FA5}">
                      <a16:colId xmlns:a16="http://schemas.microsoft.com/office/drawing/2014/main" val="1591669518"/>
                    </a:ext>
                  </a:extLst>
                </a:gridCol>
              </a:tblGrid>
              <a:tr h="443716">
                <a:tc>
                  <a:txBody>
                    <a:bodyPr/>
                    <a:lstStyle/>
                    <a:p>
                      <a:r>
                        <a:rPr lang="en-US" dirty="0"/>
                        <a:t>DESTINATION MAC (6B)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SOURCE MAC (6B)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ETHERTYPE (2B)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88476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7E1DC47-4B11-C8BF-28D3-2A53DE6494EC}"/>
              </a:ext>
            </a:extLst>
          </p:cNvPr>
          <p:cNvGraphicFramePr>
            <a:graphicFrameLocks noGrp="1"/>
          </p:cNvGraphicFramePr>
          <p:nvPr/>
        </p:nvGraphicFramePr>
        <p:xfrm>
          <a:off x="399143" y="3620924"/>
          <a:ext cx="6897778" cy="443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2121">
                  <a:extLst>
                    <a:ext uri="{9D8B030D-6E8A-4147-A177-3AD203B41FA5}">
                      <a16:colId xmlns:a16="http://schemas.microsoft.com/office/drawing/2014/main" val="1613140015"/>
                    </a:ext>
                  </a:extLst>
                </a:gridCol>
                <a:gridCol w="942121">
                  <a:extLst>
                    <a:ext uri="{9D8B030D-6E8A-4147-A177-3AD203B41FA5}">
                      <a16:colId xmlns:a16="http://schemas.microsoft.com/office/drawing/2014/main" val="3015063627"/>
                    </a:ext>
                  </a:extLst>
                </a:gridCol>
                <a:gridCol w="942121">
                  <a:extLst>
                    <a:ext uri="{9D8B030D-6E8A-4147-A177-3AD203B41FA5}">
                      <a16:colId xmlns:a16="http://schemas.microsoft.com/office/drawing/2014/main" val="253732210"/>
                    </a:ext>
                  </a:extLst>
                </a:gridCol>
                <a:gridCol w="942121">
                  <a:extLst>
                    <a:ext uri="{9D8B030D-6E8A-4147-A177-3AD203B41FA5}">
                      <a16:colId xmlns:a16="http://schemas.microsoft.com/office/drawing/2014/main" val="356078274"/>
                    </a:ext>
                  </a:extLst>
                </a:gridCol>
                <a:gridCol w="847344">
                  <a:extLst>
                    <a:ext uri="{9D8B030D-6E8A-4147-A177-3AD203B41FA5}">
                      <a16:colId xmlns:a16="http://schemas.microsoft.com/office/drawing/2014/main" val="2676761090"/>
                    </a:ext>
                  </a:extLst>
                </a:gridCol>
                <a:gridCol w="728518">
                  <a:extLst>
                    <a:ext uri="{9D8B030D-6E8A-4147-A177-3AD203B41FA5}">
                      <a16:colId xmlns:a16="http://schemas.microsoft.com/office/drawing/2014/main" val="1534327718"/>
                    </a:ext>
                  </a:extLst>
                </a:gridCol>
                <a:gridCol w="776716">
                  <a:extLst>
                    <a:ext uri="{9D8B030D-6E8A-4147-A177-3AD203B41FA5}">
                      <a16:colId xmlns:a16="http://schemas.microsoft.com/office/drawing/2014/main" val="1591669518"/>
                    </a:ext>
                  </a:extLst>
                </a:gridCol>
                <a:gridCol w="776716">
                  <a:extLst>
                    <a:ext uri="{9D8B030D-6E8A-4147-A177-3AD203B41FA5}">
                      <a16:colId xmlns:a16="http://schemas.microsoft.com/office/drawing/2014/main" val="1844042208"/>
                    </a:ext>
                  </a:extLst>
                </a:gridCol>
              </a:tblGrid>
              <a:tr h="443716">
                <a:tc>
                  <a:txBody>
                    <a:bodyPr/>
                    <a:lstStyle/>
                    <a:p>
                      <a:r>
                        <a:rPr lang="en-US" sz="900" dirty="0"/>
                        <a:t>HTYPE (2B)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PTYPE (2B)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HLEN (1B)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OPCODE (2B)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SENDER MAC (6B)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SENDER IP (4B)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TARGET MAC (6B)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TARGET IP (4B)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88476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6723106-D594-4994-A3D2-E14281E1CC00}"/>
              </a:ext>
            </a:extLst>
          </p:cNvPr>
          <p:cNvGraphicFramePr>
            <a:graphicFrameLocks noGrp="1"/>
          </p:cNvGraphicFramePr>
          <p:nvPr/>
        </p:nvGraphicFramePr>
        <p:xfrm>
          <a:off x="399143" y="4234153"/>
          <a:ext cx="3812132" cy="443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3033">
                  <a:extLst>
                    <a:ext uri="{9D8B030D-6E8A-4147-A177-3AD203B41FA5}">
                      <a16:colId xmlns:a16="http://schemas.microsoft.com/office/drawing/2014/main" val="1613140015"/>
                    </a:ext>
                  </a:extLst>
                </a:gridCol>
                <a:gridCol w="953033">
                  <a:extLst>
                    <a:ext uri="{9D8B030D-6E8A-4147-A177-3AD203B41FA5}">
                      <a16:colId xmlns:a16="http://schemas.microsoft.com/office/drawing/2014/main" val="3015063627"/>
                    </a:ext>
                  </a:extLst>
                </a:gridCol>
                <a:gridCol w="953033">
                  <a:extLst>
                    <a:ext uri="{9D8B030D-6E8A-4147-A177-3AD203B41FA5}">
                      <a16:colId xmlns:a16="http://schemas.microsoft.com/office/drawing/2014/main" val="1449619909"/>
                    </a:ext>
                  </a:extLst>
                </a:gridCol>
                <a:gridCol w="953033">
                  <a:extLst>
                    <a:ext uri="{9D8B030D-6E8A-4147-A177-3AD203B41FA5}">
                      <a16:colId xmlns:a16="http://schemas.microsoft.com/office/drawing/2014/main" val="253732210"/>
                    </a:ext>
                  </a:extLst>
                </a:gridCol>
              </a:tblGrid>
              <a:tr h="443716">
                <a:tc>
                  <a:txBody>
                    <a:bodyPr/>
                    <a:lstStyle/>
                    <a:p>
                      <a:r>
                        <a:rPr lang="en-US" sz="900" dirty="0"/>
                        <a:t>TYPE (1B)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CODE (1B)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CHECKSUM (2B)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ICMP DATA (4B)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88476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9FC3027-C5F0-3756-B023-D3A57A45FDCA}"/>
              </a:ext>
            </a:extLst>
          </p:cNvPr>
          <p:cNvSpPr txBox="1"/>
          <p:nvPr/>
        </p:nvSpPr>
        <p:spPr>
          <a:xfrm>
            <a:off x="40844" y="2078182"/>
            <a:ext cx="400110" cy="86243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dirty="0"/>
              <a:t>Ethernet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1EA041-83ED-B588-246C-EB029EFA2DC8}"/>
              </a:ext>
            </a:extLst>
          </p:cNvPr>
          <p:cNvSpPr txBox="1"/>
          <p:nvPr/>
        </p:nvSpPr>
        <p:spPr>
          <a:xfrm>
            <a:off x="40844" y="2687221"/>
            <a:ext cx="400110" cy="76419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dirty="0"/>
              <a:t>IPv4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2EE71A-E322-7A62-6E45-9EBC05336295}"/>
              </a:ext>
            </a:extLst>
          </p:cNvPr>
          <p:cNvSpPr txBox="1"/>
          <p:nvPr/>
        </p:nvSpPr>
        <p:spPr>
          <a:xfrm>
            <a:off x="40844" y="3300450"/>
            <a:ext cx="400110" cy="76419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dirty="0"/>
              <a:t>ARP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9699BB-0BCE-B351-47BB-3BB85EAD93D0}"/>
              </a:ext>
            </a:extLst>
          </p:cNvPr>
          <p:cNvSpPr txBox="1"/>
          <p:nvPr/>
        </p:nvSpPr>
        <p:spPr>
          <a:xfrm>
            <a:off x="40844" y="3910652"/>
            <a:ext cx="400110" cy="76419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b="1" dirty="0"/>
              <a:t>ICMP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21D11EE-71D3-4267-8F8F-E0F428BCBF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35560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>
            <a:spLocks noGrp="1"/>
          </p:cNvSpPr>
          <p:nvPr>
            <p:ph type="title"/>
          </p:nvPr>
        </p:nvSpPr>
        <p:spPr>
          <a:xfrm>
            <a:off x="303300" y="2591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ICMP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05" name="Google Shape;105;p18"/>
          <p:cNvSpPr txBox="1"/>
          <p:nvPr/>
        </p:nvSpPr>
        <p:spPr>
          <a:xfrm>
            <a:off x="293650" y="822575"/>
            <a:ext cx="8594100" cy="41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Use ICMP messages to send control information to host: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 b="1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Echo reply (type 0)</a:t>
            </a:r>
            <a:endParaRPr sz="1800" b="1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Send in response to echo request (type 8). Used for PING.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 b="1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Destination net unreachable (type 3, code 0)</a:t>
            </a:r>
            <a:endParaRPr sz="1800" b="1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lang="en" sz="1800"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Sent if there is a non-existent route to the destination IP.</a:t>
            </a:r>
            <a:endParaRPr sz="1800" b="1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 b="1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Destination host unreachable (type 3, code 1)</a:t>
            </a:r>
            <a:endParaRPr sz="1800" b="1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lang="en" sz="1800">
                <a:solidFill>
                  <a:srgbClr val="24292E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Sent if five ARP requests were sent to the next-hop IP without a response.</a:t>
            </a:r>
            <a:endParaRPr sz="1800" b="1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 b="1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Port unreachable (type3, code 3)</a:t>
            </a:r>
            <a:endParaRPr sz="1800" b="1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lang="en" sz="1800">
                <a:solidFill>
                  <a:srgbClr val="24292E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Sent if an IP packet containing a UDP or TCP payload is sent to one of the router’s interfaces. </a:t>
            </a:r>
            <a:endParaRPr sz="1800" b="1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 b="1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Time exceeded (type 11, code 0)</a:t>
            </a:r>
            <a:endParaRPr sz="1800" b="1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lang="en" sz="1800"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Sent if an IP packet is discarded because the TTL field is 0.</a:t>
            </a:r>
            <a:endParaRPr sz="1800" b="1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E86A2E-396A-57C1-F8FA-22C9366F3E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BD615-6CED-F119-EDC9-A901D6F83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66751-71E6-5039-B5AE-6A4FA9707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34426"/>
            <a:ext cx="8520600" cy="639600"/>
          </a:xfrm>
        </p:spPr>
        <p:txBody>
          <a:bodyPr/>
          <a:lstStyle/>
          <a:p>
            <a:r>
              <a:rPr lang="en-US" dirty="0"/>
              <a:t>ICMP Unreachable Host Scenario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BCD07EE-5350-DEA8-0F25-02CDAB95567C}"/>
              </a:ext>
            </a:extLst>
          </p:cNvPr>
          <p:cNvCxnSpPr>
            <a:cxnSpLocks/>
          </p:cNvCxnSpPr>
          <p:nvPr/>
        </p:nvCxnSpPr>
        <p:spPr>
          <a:xfrm>
            <a:off x="1087582" y="1184564"/>
            <a:ext cx="2025" cy="38793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2186E16-E2C2-96A5-CA9C-966850873AEB}"/>
              </a:ext>
            </a:extLst>
          </p:cNvPr>
          <p:cNvCxnSpPr>
            <a:cxnSpLocks/>
          </p:cNvCxnSpPr>
          <p:nvPr/>
        </p:nvCxnSpPr>
        <p:spPr>
          <a:xfrm>
            <a:off x="4703618" y="1184564"/>
            <a:ext cx="0" cy="38793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6C2608D-AE1A-9784-4268-6ECE5872430A}"/>
              </a:ext>
            </a:extLst>
          </p:cNvPr>
          <p:cNvCxnSpPr>
            <a:cxnSpLocks/>
          </p:cNvCxnSpPr>
          <p:nvPr/>
        </p:nvCxnSpPr>
        <p:spPr>
          <a:xfrm>
            <a:off x="7689272" y="1148709"/>
            <a:ext cx="0" cy="40033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778D4A1-DBF3-5D4F-403F-30A5905EA2DB}"/>
              </a:ext>
            </a:extLst>
          </p:cNvPr>
          <p:cNvSpPr txBox="1"/>
          <p:nvPr/>
        </p:nvSpPr>
        <p:spPr>
          <a:xfrm>
            <a:off x="420478" y="653877"/>
            <a:ext cx="13725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Client Network Stack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6558E0-8845-F3D3-A780-714DB93A8BB2}"/>
              </a:ext>
            </a:extLst>
          </p:cNvPr>
          <p:cNvSpPr txBox="1"/>
          <p:nvPr/>
        </p:nvSpPr>
        <p:spPr>
          <a:xfrm>
            <a:off x="4287983" y="897286"/>
            <a:ext cx="8104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Router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98CE48-D94E-227E-17F7-A147159E8987}"/>
              </a:ext>
            </a:extLst>
          </p:cNvPr>
          <p:cNvSpPr txBox="1"/>
          <p:nvPr/>
        </p:nvSpPr>
        <p:spPr>
          <a:xfrm>
            <a:off x="6922170" y="640955"/>
            <a:ext cx="14425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Server Network Stack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2DC388-C9BA-1E70-E36F-537409918778}"/>
              </a:ext>
            </a:extLst>
          </p:cNvPr>
          <p:cNvSpPr txBox="1"/>
          <p:nvPr/>
        </p:nvSpPr>
        <p:spPr>
          <a:xfrm>
            <a:off x="299327" y="1392460"/>
            <a:ext cx="8866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chemeClr val="bg2"/>
                </a:solidFill>
              </a:rPr>
              <a:t>1) GET 192.168.1.</a:t>
            </a:r>
            <a:r>
              <a:rPr lang="en-US" sz="600" dirty="0">
                <a:solidFill>
                  <a:srgbClr val="FF0000"/>
                </a:solidFill>
              </a:rPr>
              <a:t>6</a:t>
            </a:r>
            <a:r>
              <a:rPr lang="en-US" sz="600" dirty="0">
                <a:solidFill>
                  <a:schemeClr val="bg2"/>
                </a:solidFill>
              </a:rPr>
              <a:t> HTTP/1.1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CA85E96-EC04-7F75-066C-0310424215D1}"/>
              </a:ext>
            </a:extLst>
          </p:cNvPr>
          <p:cNvCxnSpPr>
            <a:cxnSpLocks/>
          </p:cNvCxnSpPr>
          <p:nvPr/>
        </p:nvCxnSpPr>
        <p:spPr>
          <a:xfrm>
            <a:off x="394855" y="1170427"/>
            <a:ext cx="0" cy="38934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4036C71-963B-66D7-EC8C-93E939A5E25F}"/>
              </a:ext>
            </a:extLst>
          </p:cNvPr>
          <p:cNvCxnSpPr>
            <a:cxnSpLocks/>
          </p:cNvCxnSpPr>
          <p:nvPr/>
        </p:nvCxnSpPr>
        <p:spPr>
          <a:xfrm>
            <a:off x="394855" y="1205063"/>
            <a:ext cx="732329" cy="19738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938941A-CAC3-DD94-488D-B5660C3B3432}"/>
              </a:ext>
            </a:extLst>
          </p:cNvPr>
          <p:cNvSpPr txBox="1"/>
          <p:nvPr/>
        </p:nvSpPr>
        <p:spPr>
          <a:xfrm>
            <a:off x="-129023" y="887036"/>
            <a:ext cx="1047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Browser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DB6D86E-5AA7-4666-5C44-B8CD5ACAA4E5}"/>
              </a:ext>
            </a:extLst>
          </p:cNvPr>
          <p:cNvCxnSpPr>
            <a:cxnSpLocks/>
          </p:cNvCxnSpPr>
          <p:nvPr/>
        </p:nvCxnSpPr>
        <p:spPr>
          <a:xfrm>
            <a:off x="8922328" y="1194813"/>
            <a:ext cx="0" cy="39072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74B8533-E0A6-8589-9EE0-C0893B984702}"/>
              </a:ext>
            </a:extLst>
          </p:cNvPr>
          <p:cNvSpPr txBox="1"/>
          <p:nvPr/>
        </p:nvSpPr>
        <p:spPr>
          <a:xfrm>
            <a:off x="8466119" y="635020"/>
            <a:ext cx="8103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HTTP Server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0DDA15-5934-CB9D-25B9-1995D1EFC68E}"/>
              </a:ext>
            </a:extLst>
          </p:cNvPr>
          <p:cNvSpPr txBox="1"/>
          <p:nvPr/>
        </p:nvSpPr>
        <p:spPr>
          <a:xfrm rot="196430">
            <a:off x="1607122" y="1388580"/>
            <a:ext cx="240721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chemeClr val="accent3"/>
                </a:solidFill>
              </a:rPr>
              <a:t>2) WHO HAS 10.10.1.1?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4829C76-6D0A-EEE4-FE8C-6DA6A6E2FC0F}"/>
              </a:ext>
            </a:extLst>
          </p:cNvPr>
          <p:cNvCxnSpPr>
            <a:cxnSpLocks/>
          </p:cNvCxnSpPr>
          <p:nvPr/>
        </p:nvCxnSpPr>
        <p:spPr>
          <a:xfrm>
            <a:off x="1087583" y="1480913"/>
            <a:ext cx="3622077" cy="130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0ACDA94-8312-0FFB-D915-E734F1067941}"/>
              </a:ext>
            </a:extLst>
          </p:cNvPr>
          <p:cNvCxnSpPr>
            <a:cxnSpLocks/>
          </p:cNvCxnSpPr>
          <p:nvPr/>
        </p:nvCxnSpPr>
        <p:spPr>
          <a:xfrm>
            <a:off x="4693108" y="2173342"/>
            <a:ext cx="2985653" cy="153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997158C-F076-273D-AB7B-2ABD291BE086}"/>
              </a:ext>
            </a:extLst>
          </p:cNvPr>
          <p:cNvCxnSpPr>
            <a:cxnSpLocks/>
          </p:cNvCxnSpPr>
          <p:nvPr/>
        </p:nvCxnSpPr>
        <p:spPr>
          <a:xfrm>
            <a:off x="4693108" y="2256567"/>
            <a:ext cx="2002683" cy="10438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62AAF16-479B-2EAA-6A9D-64AAA60F1082}"/>
              </a:ext>
            </a:extLst>
          </p:cNvPr>
          <p:cNvCxnSpPr>
            <a:cxnSpLocks/>
          </p:cNvCxnSpPr>
          <p:nvPr/>
        </p:nvCxnSpPr>
        <p:spPr>
          <a:xfrm>
            <a:off x="4693108" y="2358676"/>
            <a:ext cx="2023304" cy="9013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7BF6351-CCDE-843D-549F-1F46B4647776}"/>
              </a:ext>
            </a:extLst>
          </p:cNvPr>
          <p:cNvSpPr txBox="1"/>
          <p:nvPr/>
        </p:nvSpPr>
        <p:spPr>
          <a:xfrm rot="262630">
            <a:off x="4801277" y="2069016"/>
            <a:ext cx="240721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chemeClr val="accent3"/>
                </a:solidFill>
              </a:rPr>
              <a:t>5) WHO HAS 192.168.1.6?</a:t>
            </a:r>
          </a:p>
        </p:txBody>
      </p:sp>
      <p:pic>
        <p:nvPicPr>
          <p:cNvPr id="30" name="Graphic 29" descr="Megaphone with solid fill">
            <a:extLst>
              <a:ext uri="{FF2B5EF4-FFF2-40B4-BE49-F238E27FC236}">
                <a16:creationId xmlns:a16="http://schemas.microsoft.com/office/drawing/2014/main" id="{13699547-7E51-BA9A-804A-2D0AEACC3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79336" y="1994196"/>
            <a:ext cx="524741" cy="524741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4C792A6-C938-3C23-AC8B-1A809347C200}"/>
              </a:ext>
            </a:extLst>
          </p:cNvPr>
          <p:cNvSpPr txBox="1"/>
          <p:nvPr/>
        </p:nvSpPr>
        <p:spPr>
          <a:xfrm>
            <a:off x="1034310" y="1057959"/>
            <a:ext cx="19127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10.10.1.2, Gateway: 10.10.1.1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753D38-8E87-FEA4-F62D-8A0FDCD2037C}"/>
              </a:ext>
            </a:extLst>
          </p:cNvPr>
          <p:cNvSpPr txBox="1"/>
          <p:nvPr/>
        </p:nvSpPr>
        <p:spPr>
          <a:xfrm>
            <a:off x="4017645" y="1148709"/>
            <a:ext cx="6859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10.10.1.1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636C9EA-BC49-74A8-10C1-0D3392FFC997}"/>
              </a:ext>
            </a:extLst>
          </p:cNvPr>
          <p:cNvSpPr txBox="1"/>
          <p:nvPr/>
        </p:nvSpPr>
        <p:spPr>
          <a:xfrm>
            <a:off x="4663441" y="1148709"/>
            <a:ext cx="8661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192.168.1.1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1C5263-DFE8-FA41-AD29-E0427070EF6F}"/>
              </a:ext>
            </a:extLst>
          </p:cNvPr>
          <p:cNvSpPr txBox="1"/>
          <p:nvPr/>
        </p:nvSpPr>
        <p:spPr>
          <a:xfrm>
            <a:off x="6963781" y="1124928"/>
            <a:ext cx="22055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192.168.1.4, Gateway: 192.168.1.1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78026FC-E284-34C7-761D-7378F1D6C9CE}"/>
              </a:ext>
            </a:extLst>
          </p:cNvPr>
          <p:cNvCxnSpPr>
            <a:cxnSpLocks/>
          </p:cNvCxnSpPr>
          <p:nvPr/>
        </p:nvCxnSpPr>
        <p:spPr>
          <a:xfrm flipH="1" flipV="1">
            <a:off x="1089607" y="1677759"/>
            <a:ext cx="3600935" cy="24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443CFCC-A506-FE16-7D10-2C5D442257EA}"/>
              </a:ext>
            </a:extLst>
          </p:cNvPr>
          <p:cNvSpPr txBox="1"/>
          <p:nvPr/>
        </p:nvSpPr>
        <p:spPr>
          <a:xfrm>
            <a:off x="1671905" y="1671679"/>
            <a:ext cx="240721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chemeClr val="accent3"/>
                </a:solidFill>
              </a:rPr>
              <a:t>3) 10.10.1.1 IS AT AB:CD:34:34:12:14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4F95E38-E891-03D3-2ACF-40FDC4B1CC7E}"/>
              </a:ext>
            </a:extLst>
          </p:cNvPr>
          <p:cNvSpPr txBox="1"/>
          <p:nvPr/>
        </p:nvSpPr>
        <p:spPr>
          <a:xfrm rot="196430">
            <a:off x="1828730" y="1829914"/>
            <a:ext cx="240721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chemeClr val="bg2"/>
                </a:solidFill>
              </a:rPr>
              <a:t>4) TCP SYN from 10.10.1.2 to 192.168.1.</a:t>
            </a:r>
            <a:r>
              <a:rPr lang="en-US" sz="600" dirty="0">
                <a:solidFill>
                  <a:srgbClr val="FF0000"/>
                </a:solidFill>
              </a:rPr>
              <a:t>6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81B8925-DE75-F83B-CEB8-E5C63E841C05}"/>
              </a:ext>
            </a:extLst>
          </p:cNvPr>
          <p:cNvCxnSpPr>
            <a:cxnSpLocks/>
          </p:cNvCxnSpPr>
          <p:nvPr/>
        </p:nvCxnSpPr>
        <p:spPr>
          <a:xfrm>
            <a:off x="1081542" y="1874075"/>
            <a:ext cx="3616035" cy="251415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1DF8DF5F-4EF8-776E-E23B-C347EA4E03B3}"/>
              </a:ext>
            </a:extLst>
          </p:cNvPr>
          <p:cNvSpPr txBox="1"/>
          <p:nvPr/>
        </p:nvSpPr>
        <p:spPr>
          <a:xfrm rot="196430">
            <a:off x="5190237" y="2991384"/>
            <a:ext cx="169372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accent3"/>
                </a:solidFill>
              </a:rPr>
              <a:t>…</a:t>
            </a:r>
          </a:p>
          <a:p>
            <a:pPr algn="ctr"/>
            <a:r>
              <a:rPr lang="en-US" sz="900" b="1" dirty="0">
                <a:solidFill>
                  <a:schemeClr val="accent3"/>
                </a:solidFill>
              </a:rPr>
              <a:t>2 tries</a:t>
            </a:r>
          </a:p>
          <a:p>
            <a:pPr algn="ctr"/>
            <a:r>
              <a:rPr lang="en-US" sz="900" b="1" dirty="0">
                <a:solidFill>
                  <a:schemeClr val="accent3"/>
                </a:solidFill>
              </a:rPr>
              <a:t>…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959A6A2-87DF-3CE6-6AA7-A93A7D2C5D52}"/>
              </a:ext>
            </a:extLst>
          </p:cNvPr>
          <p:cNvSpPr txBox="1"/>
          <p:nvPr/>
        </p:nvSpPr>
        <p:spPr>
          <a:xfrm rot="21390009">
            <a:off x="1679416" y="3931301"/>
            <a:ext cx="278558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chemeClr val="accent5"/>
                </a:solidFill>
              </a:rPr>
              <a:t>8) ICMP DESTINATION HOST UNREACHABLE!</a:t>
            </a: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402A00F8-C56D-ACA0-31EE-50EB11AC600A}"/>
              </a:ext>
            </a:extLst>
          </p:cNvPr>
          <p:cNvCxnSpPr>
            <a:cxnSpLocks/>
          </p:cNvCxnSpPr>
          <p:nvPr/>
        </p:nvCxnSpPr>
        <p:spPr>
          <a:xfrm flipH="1">
            <a:off x="1088594" y="4081257"/>
            <a:ext cx="3616974" cy="189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ED19629D-9348-2E3C-926B-84E4BAAF33CB}"/>
              </a:ext>
            </a:extLst>
          </p:cNvPr>
          <p:cNvCxnSpPr>
            <a:cxnSpLocks/>
          </p:cNvCxnSpPr>
          <p:nvPr/>
        </p:nvCxnSpPr>
        <p:spPr>
          <a:xfrm flipH="1">
            <a:off x="394855" y="4553969"/>
            <a:ext cx="718878" cy="44541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38ED6EFA-BD4B-C39D-0487-354E7607E34A}"/>
              </a:ext>
            </a:extLst>
          </p:cNvPr>
          <p:cNvSpPr txBox="1"/>
          <p:nvPr/>
        </p:nvSpPr>
        <p:spPr>
          <a:xfrm>
            <a:off x="389698" y="4277791"/>
            <a:ext cx="7512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chemeClr val="bg2"/>
                </a:solidFill>
              </a:rPr>
              <a:t>9) Socket error: connect failed</a:t>
            </a:r>
          </a:p>
        </p:txBody>
      </p:sp>
      <p:sp>
        <p:nvSpPr>
          <p:cNvPr id="128" name="Slide Number Placeholder 127">
            <a:extLst>
              <a:ext uri="{FF2B5EF4-FFF2-40B4-BE49-F238E27FC236}">
                <a16:creationId xmlns:a16="http://schemas.microsoft.com/office/drawing/2014/main" id="{B27F9613-1C25-7206-619F-AFFB3A73FC6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20596" y="4803023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17804B1-033E-2934-F5F0-A9F2CDD6DC7F}"/>
              </a:ext>
            </a:extLst>
          </p:cNvPr>
          <p:cNvCxnSpPr>
            <a:cxnSpLocks/>
          </p:cNvCxnSpPr>
          <p:nvPr/>
        </p:nvCxnSpPr>
        <p:spPr>
          <a:xfrm>
            <a:off x="4703355" y="2603804"/>
            <a:ext cx="2985653" cy="153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0252EE9-1798-BC93-0781-19A8E54078F2}"/>
              </a:ext>
            </a:extLst>
          </p:cNvPr>
          <p:cNvCxnSpPr>
            <a:cxnSpLocks/>
          </p:cNvCxnSpPr>
          <p:nvPr/>
        </p:nvCxnSpPr>
        <p:spPr>
          <a:xfrm>
            <a:off x="4703355" y="2687029"/>
            <a:ext cx="2002683" cy="10438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4D35EF-8855-C1A4-0F4B-EFEA0D44E386}"/>
              </a:ext>
            </a:extLst>
          </p:cNvPr>
          <p:cNvCxnSpPr>
            <a:cxnSpLocks/>
          </p:cNvCxnSpPr>
          <p:nvPr/>
        </p:nvCxnSpPr>
        <p:spPr>
          <a:xfrm>
            <a:off x="4703355" y="2789138"/>
            <a:ext cx="2023304" cy="9013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0FDBE74-EDAC-C746-C45E-E723651C9F34}"/>
              </a:ext>
            </a:extLst>
          </p:cNvPr>
          <p:cNvSpPr txBox="1"/>
          <p:nvPr/>
        </p:nvSpPr>
        <p:spPr>
          <a:xfrm rot="262630">
            <a:off x="4811524" y="2499478"/>
            <a:ext cx="240721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chemeClr val="accent3"/>
                </a:solidFill>
              </a:rPr>
              <a:t>6) WHO HAS 192.168.1.6?</a:t>
            </a:r>
          </a:p>
        </p:txBody>
      </p:sp>
      <p:pic>
        <p:nvPicPr>
          <p:cNvPr id="22" name="Graphic 21" descr="Megaphone with solid fill">
            <a:extLst>
              <a:ext uri="{FF2B5EF4-FFF2-40B4-BE49-F238E27FC236}">
                <a16:creationId xmlns:a16="http://schemas.microsoft.com/office/drawing/2014/main" id="{1830447B-665D-1151-5220-A99B44335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9583" y="2424658"/>
            <a:ext cx="524741" cy="524741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8470DFC-7A0D-0CD5-17A2-2AA563C6FFAC}"/>
              </a:ext>
            </a:extLst>
          </p:cNvPr>
          <p:cNvCxnSpPr>
            <a:cxnSpLocks/>
          </p:cNvCxnSpPr>
          <p:nvPr/>
        </p:nvCxnSpPr>
        <p:spPr>
          <a:xfrm>
            <a:off x="4705568" y="3678039"/>
            <a:ext cx="2985653" cy="153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B74CB14-D198-F260-2892-0358B9EECBAE}"/>
              </a:ext>
            </a:extLst>
          </p:cNvPr>
          <p:cNvCxnSpPr>
            <a:cxnSpLocks/>
          </p:cNvCxnSpPr>
          <p:nvPr/>
        </p:nvCxnSpPr>
        <p:spPr>
          <a:xfrm>
            <a:off x="4705568" y="3761264"/>
            <a:ext cx="2002683" cy="10438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56D1B4D-3DD8-4AE8-92E0-BE5C92DD60C8}"/>
              </a:ext>
            </a:extLst>
          </p:cNvPr>
          <p:cNvCxnSpPr>
            <a:cxnSpLocks/>
          </p:cNvCxnSpPr>
          <p:nvPr/>
        </p:nvCxnSpPr>
        <p:spPr>
          <a:xfrm>
            <a:off x="4705568" y="3863373"/>
            <a:ext cx="2023304" cy="9013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0424213-B5DD-B1D9-E29E-28EF2B0D7BAD}"/>
              </a:ext>
            </a:extLst>
          </p:cNvPr>
          <p:cNvSpPr txBox="1"/>
          <p:nvPr/>
        </p:nvSpPr>
        <p:spPr>
          <a:xfrm rot="262630">
            <a:off x="4813737" y="3573713"/>
            <a:ext cx="240721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chemeClr val="accent3"/>
                </a:solidFill>
              </a:rPr>
              <a:t>7) WHO HAS 192.168.1.6?</a:t>
            </a:r>
          </a:p>
        </p:txBody>
      </p:sp>
      <p:pic>
        <p:nvPicPr>
          <p:cNvPr id="33" name="Graphic 32" descr="Megaphone with solid fill">
            <a:extLst>
              <a:ext uri="{FF2B5EF4-FFF2-40B4-BE49-F238E27FC236}">
                <a16:creationId xmlns:a16="http://schemas.microsoft.com/office/drawing/2014/main" id="{FB6C2F91-137E-7E64-1D4B-897D46557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91796" y="3498893"/>
            <a:ext cx="524741" cy="524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252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0" grpId="0"/>
      <p:bldP spid="28" grpId="0"/>
      <p:bldP spid="41" grpId="0"/>
      <p:bldP spid="43" grpId="0"/>
      <p:bldP spid="52" grpId="0"/>
      <p:bldP spid="94" grpId="0"/>
      <p:bldP spid="126" grpId="0"/>
      <p:bldP spid="15" grpId="0"/>
      <p:bldP spid="3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>
            <a:spLocks noGrp="1"/>
          </p:cNvSpPr>
          <p:nvPr>
            <p:ph type="title"/>
          </p:nvPr>
        </p:nvSpPr>
        <p:spPr>
          <a:xfrm>
            <a:off x="435128" y="205980"/>
            <a:ext cx="8336806" cy="857251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lang="en-US" sz="3300" dirty="0"/>
              <a:t>Summary: A Rough Flow Chart</a:t>
            </a:r>
            <a:endParaRPr sz="3300" dirty="0"/>
          </a:p>
        </p:txBody>
      </p:sp>
      <p:pic>
        <p:nvPicPr>
          <p:cNvPr id="91" name="image4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709683" y="972210"/>
            <a:ext cx="5734720" cy="34897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image5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1493657" y="916055"/>
            <a:ext cx="6172898" cy="370792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89">
            <a:extLst>
              <a:ext uri="{FF2B5EF4-FFF2-40B4-BE49-F238E27FC236}">
                <a16:creationId xmlns:a16="http://schemas.microsoft.com/office/drawing/2014/main" id="{21CC918F-9516-C314-F710-A6187192E958}"/>
              </a:ext>
            </a:extLst>
          </p:cNvPr>
          <p:cNvSpPr txBox="1">
            <a:spLocks/>
          </p:cNvSpPr>
          <p:nvPr/>
        </p:nvSpPr>
        <p:spPr>
          <a:xfrm>
            <a:off x="435128" y="205980"/>
            <a:ext cx="8336806" cy="85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291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>
              <a:defRPr sz="1800"/>
            </a:pPr>
            <a:r>
              <a:rPr lang="en-US" sz="3300"/>
              <a:t>Summary: A Rough Flow Chart</a:t>
            </a:r>
            <a:endParaRPr lang="en-US" sz="3300" dirty="0"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BA881-475C-9992-399E-DC76479EA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END OF PART 1</a:t>
            </a:r>
            <a:br>
              <a:rPr lang="en-US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</a:br>
            <a:br>
              <a:rPr lang="en-US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</a:br>
            <a:br>
              <a:rPr lang="en-US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</a:br>
            <a:br>
              <a:rPr lang="en-US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</a:br>
            <a:r>
              <a:rPr lang="en-US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Q&amp;A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B9366C-DF97-E9D9-422A-6840A8ADA9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585407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BA881-475C-9992-399E-DC76479EA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PART 2: TESTING ENVIRONMENT</a:t>
            </a:r>
            <a:br>
              <a:rPr lang="en-US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</a:br>
            <a:br>
              <a:rPr lang="en-US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</a:br>
            <a:br>
              <a:rPr lang="en-US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</a:br>
            <a:br>
              <a:rPr lang="en-US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</a:br>
            <a:r>
              <a:rPr lang="en-US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Deploying Mininet using </a:t>
            </a:r>
            <a:r>
              <a:rPr lang="en-US" dirty="0" err="1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Multipass</a:t>
            </a:r>
            <a:endParaRPr lang="en-US" dirty="0"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539745-F7C3-FF3A-424E-1C78BAB551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670578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>
            <a:spLocks noGrp="1"/>
          </p:cNvSpPr>
          <p:nvPr>
            <p:ph type="title"/>
          </p:nvPr>
        </p:nvSpPr>
        <p:spPr>
          <a:xfrm>
            <a:off x="303300" y="2591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Mininet VM Setup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23" name="Google Shape;123;p21"/>
          <p:cNvSpPr txBox="1"/>
          <p:nvPr/>
        </p:nvSpPr>
        <p:spPr>
          <a:xfrm>
            <a:off x="293650" y="951650"/>
            <a:ext cx="8388000" cy="3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Checkout the instructions in README-VM.md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Custom Multipass VM setup (cn-a2) → </a:t>
            </a:r>
            <a:r>
              <a:rPr lang="en" sz="1800" b="1" dirty="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must use</a:t>
            </a:r>
            <a:r>
              <a:rPr lang="en" sz="1800" dirty="0">
                <a:latin typeface="Lato"/>
                <a:ea typeface="Lato"/>
                <a:cs typeface="Lato"/>
                <a:sym typeface="Lato"/>
              </a:rPr>
              <a:t> for this assignment!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Test connectivity using the reference binary provided.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Lato"/>
              <a:buChar char="○"/>
            </a:pPr>
            <a:r>
              <a:rPr lang="en" sz="1800" b="1" dirty="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Do this BEFORE writing any code. </a:t>
            </a:r>
            <a:endParaRPr sz="1800" b="1" dirty="0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Lato"/>
              <a:buChar char="○"/>
            </a:pPr>
            <a:r>
              <a:rPr lang="en" sz="1800" b="1" dirty="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Do this early</a:t>
            </a:r>
            <a:r>
              <a:rPr lang="en" sz="1800" b="1" dirty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800" dirty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so we can help resolve any setup issues.</a:t>
            </a:r>
            <a:endParaRPr sz="1800" b="1" dirty="0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If there are any connectivity  issues, you will not be able to test your implementation.</a:t>
            </a: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No autograder on Gradescope, but exact requirements are provided.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Font typeface="Lato"/>
              <a:buChar char="●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Step-by-step instructions and requirements </a:t>
            </a:r>
            <a:r>
              <a:rPr lang="en" sz="1800" dirty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are in the README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3F28BA-3602-71A1-A0E0-8741CB605B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>
            <a:spLocks noGrp="1"/>
          </p:cNvSpPr>
          <p:nvPr>
            <p:ph type="title"/>
          </p:nvPr>
        </p:nvSpPr>
        <p:spPr>
          <a:xfrm>
            <a:off x="303300" y="2591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4"/>
                </a:solidFill>
              </a:rPr>
              <a:t>Getting Started: sr_router.c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129" name="Google Shape;129;p22"/>
          <p:cNvSpPr txBox="1"/>
          <p:nvPr/>
        </p:nvSpPr>
        <p:spPr>
          <a:xfrm>
            <a:off x="293650" y="1027850"/>
            <a:ext cx="8388000" cy="37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In </a:t>
            </a:r>
            <a:r>
              <a:rPr lang="en" sz="1800" dirty="0">
                <a:latin typeface="Courier New"/>
                <a:ea typeface="Courier New"/>
                <a:cs typeface="Courier New"/>
                <a:sym typeface="Courier New"/>
              </a:rPr>
              <a:t>sr_router.c:</a:t>
            </a:r>
            <a:endParaRPr sz="18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609600" marR="1524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void sr_handlepacket(struct sr_instance* sr, uint8_t * packet, unsigned int len, char* interface)</a:t>
            </a:r>
            <a:endParaRPr sz="1600" b="1" dirty="0">
              <a:solidFill>
                <a:srgbClr val="24292E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1524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4292E"/>
              </a:buClr>
              <a:buSzPts val="1800"/>
              <a:buFont typeface="Lato"/>
              <a:buChar char="●"/>
            </a:pPr>
            <a:r>
              <a:rPr lang="en" sz="1800" dirty="0">
                <a:solidFill>
                  <a:srgbClr val="24292E"/>
                </a:solidFill>
                <a:latin typeface="Lato"/>
                <a:ea typeface="Lato"/>
                <a:cs typeface="Lato"/>
                <a:sym typeface="Lato"/>
              </a:rPr>
              <a:t>This method is called every time the router receives a raw Ethernet frame.</a:t>
            </a:r>
            <a:endParaRPr sz="1800" dirty="0">
              <a:solidFill>
                <a:srgbClr val="24292E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1524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4292E"/>
              </a:buClr>
              <a:buSzPts val="1800"/>
              <a:buFont typeface="Lato"/>
              <a:buChar char="●"/>
            </a:pPr>
            <a:r>
              <a:rPr lang="en" sz="1800" dirty="0">
                <a:solidFill>
                  <a:srgbClr val="24292E"/>
                </a:solidFill>
                <a:latin typeface="Lato"/>
                <a:ea typeface="Lato"/>
                <a:cs typeface="Lato"/>
                <a:sym typeface="Lato"/>
              </a:rPr>
              <a:t>You will have to implement the logic to process the packets and send them to the correct interface.</a:t>
            </a:r>
            <a:endParaRPr sz="1800" dirty="0">
              <a:solidFill>
                <a:srgbClr val="24292E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marR="152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800"/>
              <a:buFont typeface="Lato"/>
              <a:buChar char="○"/>
            </a:pPr>
            <a:r>
              <a:rPr lang="en" sz="1800" b="1" dirty="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Tip:</a:t>
            </a:r>
            <a:r>
              <a:rPr lang="en" sz="1800" dirty="0">
                <a:solidFill>
                  <a:srgbClr val="24292E"/>
                </a:solidFill>
                <a:latin typeface="Lato"/>
                <a:ea typeface="Lato"/>
                <a:cs typeface="Lato"/>
                <a:sym typeface="Lato"/>
              </a:rPr>
              <a:t> First check if it is an IP or an ARP packet using </a:t>
            </a:r>
            <a:r>
              <a:rPr lang="en" sz="1800" dirty="0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ethertype() </a:t>
            </a:r>
            <a:r>
              <a:rPr lang="en" sz="1800" dirty="0">
                <a:solidFill>
                  <a:srgbClr val="24292E"/>
                </a:solidFill>
                <a:latin typeface="Lato"/>
                <a:ea typeface="Lato"/>
                <a:cs typeface="Lato"/>
                <a:sym typeface="Lato"/>
              </a:rPr>
              <a:t>method from </a:t>
            </a:r>
            <a:r>
              <a:rPr lang="en" sz="1800" dirty="0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sr_utils.c/h</a:t>
            </a:r>
            <a:r>
              <a:rPr lang="en" sz="1800" dirty="0">
                <a:solidFill>
                  <a:srgbClr val="24292E"/>
                </a:solidFill>
                <a:latin typeface="Lato"/>
                <a:ea typeface="Lato"/>
                <a:cs typeface="Lato"/>
                <a:sym typeface="Lato"/>
              </a:rPr>
              <a:t>, then process accordingly</a:t>
            </a:r>
            <a:endParaRPr sz="1800" dirty="0">
              <a:solidFill>
                <a:srgbClr val="24292E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marR="152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800"/>
              <a:buFont typeface="Lato"/>
              <a:buChar char="○"/>
            </a:pPr>
            <a:r>
              <a:rPr lang="en" sz="1800" dirty="0">
                <a:solidFill>
                  <a:srgbClr val="24292E"/>
                </a:solidFill>
                <a:latin typeface="Lato"/>
                <a:ea typeface="Lato"/>
                <a:cs typeface="Lato"/>
                <a:sym typeface="Lato"/>
              </a:rPr>
              <a:t>Use helper methods!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FF38B7-61B7-254E-EF24-C6DAEA317B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>
            <a:spLocks noGrp="1"/>
          </p:cNvSpPr>
          <p:nvPr>
            <p:ph type="title"/>
          </p:nvPr>
        </p:nvSpPr>
        <p:spPr>
          <a:xfrm>
            <a:off x="303300" y="2591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4"/>
                </a:solidFill>
              </a:rPr>
              <a:t>Helper functions: sending a packet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135" name="Google Shape;135;p23"/>
          <p:cNvSpPr txBox="1"/>
          <p:nvPr/>
        </p:nvSpPr>
        <p:spPr>
          <a:xfrm>
            <a:off x="293650" y="1027850"/>
            <a:ext cx="8388000" cy="30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In </a:t>
            </a:r>
            <a:r>
              <a:rPr lang="en" sz="1800" dirty="0">
                <a:latin typeface="Courier New"/>
                <a:ea typeface="Courier New"/>
                <a:cs typeface="Courier New"/>
                <a:sym typeface="Courier New"/>
              </a:rPr>
              <a:t>sr_vns_comm.c:</a:t>
            </a:r>
            <a:endParaRPr sz="18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21252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 sr_send_packet(struct sr_instance* sr, uint8_t* buf, unsigned int len, const char* iface)</a:t>
            </a:r>
            <a:endParaRPr sz="1600" b="1" dirty="0">
              <a:solidFill>
                <a:srgbClr val="21252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1524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4292E"/>
              </a:buClr>
              <a:buSzPts val="1800"/>
              <a:buFont typeface="Lato"/>
              <a:buChar char="●"/>
            </a:pPr>
            <a:r>
              <a:rPr lang="en" sz="1800" dirty="0">
                <a:solidFill>
                  <a:srgbClr val="24292E"/>
                </a:solidFill>
                <a:latin typeface="Lato"/>
                <a:ea typeface="Lato"/>
                <a:cs typeface="Lato"/>
                <a:sym typeface="Lato"/>
              </a:rPr>
              <a:t>Sends a packet of length </a:t>
            </a:r>
            <a:r>
              <a:rPr lang="en" sz="1800" dirty="0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" sz="1800" dirty="0">
                <a:solidFill>
                  <a:srgbClr val="24292E"/>
                </a:solidFill>
                <a:latin typeface="Lato"/>
                <a:ea typeface="Lato"/>
                <a:cs typeface="Lato"/>
                <a:sym typeface="Lato"/>
              </a:rPr>
              <a:t> to the network out of </a:t>
            </a:r>
            <a:r>
              <a:rPr lang="en" sz="1800" dirty="0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iface</a:t>
            </a:r>
            <a:endParaRPr sz="1800" dirty="0">
              <a:solidFill>
                <a:srgbClr val="24292E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1524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4292E"/>
              </a:buClr>
              <a:buSzPts val="1800"/>
              <a:buFont typeface="Lato"/>
              <a:buChar char="●"/>
            </a:pPr>
            <a:r>
              <a:rPr lang="en" sz="1800" dirty="0">
                <a:solidFill>
                  <a:srgbClr val="24292E"/>
                </a:solidFill>
                <a:latin typeface="Lato"/>
                <a:ea typeface="Lato"/>
                <a:cs typeface="Lato"/>
                <a:sym typeface="Lato"/>
              </a:rPr>
              <a:t>Your </a:t>
            </a:r>
            <a:r>
              <a:rPr lang="en" sz="1800" dirty="0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sr_router.c</a:t>
            </a:r>
            <a:r>
              <a:rPr lang="en" sz="1800" dirty="0">
                <a:solidFill>
                  <a:srgbClr val="24292E"/>
                </a:solidFill>
                <a:latin typeface="Lato"/>
                <a:ea typeface="Lato"/>
                <a:cs typeface="Lato"/>
                <a:sym typeface="Lato"/>
              </a:rPr>
              <a:t> should call this method</a:t>
            </a:r>
            <a:endParaRPr sz="1800" dirty="0">
              <a:solidFill>
                <a:srgbClr val="24292E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1524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4292E"/>
              </a:buClr>
              <a:buSzPts val="1800"/>
              <a:buFont typeface="Lato"/>
              <a:buChar char="●"/>
            </a:pPr>
            <a:r>
              <a:rPr lang="en" sz="1800" dirty="0">
                <a:solidFill>
                  <a:srgbClr val="24292E"/>
                </a:solidFill>
                <a:latin typeface="Lato"/>
                <a:ea typeface="Lato"/>
                <a:cs typeface="Lato"/>
                <a:sym typeface="Lato"/>
              </a:rPr>
              <a:t>You do not need to modify this method</a:t>
            </a:r>
            <a:endParaRPr sz="1800" dirty="0">
              <a:solidFill>
                <a:srgbClr val="24292E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endParaRPr sz="18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4FC61A-331D-4621-9271-2CEDA7F345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>
            <a:spLocks noGrp="1"/>
          </p:cNvSpPr>
          <p:nvPr>
            <p:ph type="title"/>
          </p:nvPr>
        </p:nvSpPr>
        <p:spPr>
          <a:xfrm>
            <a:off x="303300" y="2591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Getting Started: sr_arpcache.c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41" name="Google Shape;141;p24"/>
          <p:cNvSpPr txBox="1"/>
          <p:nvPr/>
        </p:nvSpPr>
        <p:spPr>
          <a:xfrm>
            <a:off x="293650" y="1027850"/>
            <a:ext cx="8388000" cy="39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In </a:t>
            </a:r>
            <a:r>
              <a:rPr lang="en" sz="1800" dirty="0">
                <a:latin typeface="Courier New"/>
                <a:ea typeface="Courier New"/>
                <a:cs typeface="Courier New"/>
                <a:sym typeface="Courier New"/>
              </a:rPr>
              <a:t>sr_arpcache.c:</a:t>
            </a:r>
            <a:endParaRPr sz="18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21252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 sr_arpcache_sweepreqs(struct sr_instance *sr)</a:t>
            </a:r>
            <a:endParaRPr sz="1600" b="1" dirty="0">
              <a:solidFill>
                <a:srgbClr val="21252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21252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1524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800"/>
              <a:buFont typeface="Lato"/>
              <a:buChar char="●"/>
            </a:pPr>
            <a:r>
              <a:rPr lang="en" sz="1800" dirty="0">
                <a:solidFill>
                  <a:srgbClr val="24292E"/>
                </a:solidFill>
                <a:latin typeface="Lato"/>
                <a:ea typeface="Lato"/>
                <a:cs typeface="Lato"/>
                <a:sym typeface="Lato"/>
              </a:rPr>
              <a:t>Called once per second</a:t>
            </a:r>
            <a:endParaRPr sz="1800" dirty="0">
              <a:solidFill>
                <a:srgbClr val="24292E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1524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4292E"/>
              </a:buClr>
              <a:buSzPts val="1800"/>
              <a:buFont typeface="Lato"/>
              <a:buChar char="●"/>
            </a:pPr>
            <a:r>
              <a:rPr lang="en" sz="1800" dirty="0">
                <a:solidFill>
                  <a:srgbClr val="24292E"/>
                </a:solidFill>
                <a:latin typeface="Lato"/>
                <a:ea typeface="Lato"/>
                <a:cs typeface="Lato"/>
                <a:sym typeface="Lato"/>
              </a:rPr>
              <a:t>You should add code to iterate through the ARP request queue and re-send outstanding requests</a:t>
            </a:r>
            <a:endParaRPr sz="1800" dirty="0">
              <a:solidFill>
                <a:srgbClr val="24292E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1524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4292E"/>
              </a:buClr>
              <a:buSzPts val="1800"/>
              <a:buFont typeface="Lato"/>
              <a:buChar char="●"/>
            </a:pPr>
            <a:r>
              <a:rPr lang="en" sz="1800" dirty="0">
                <a:solidFill>
                  <a:srgbClr val="24292E"/>
                </a:solidFill>
                <a:latin typeface="Lato"/>
                <a:ea typeface="Lato"/>
                <a:cs typeface="Lato"/>
                <a:sym typeface="Lato"/>
              </a:rPr>
              <a:t>Fill in the helper method called e.g. </a:t>
            </a:r>
            <a:r>
              <a:rPr lang="en" sz="1800" dirty="0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handle_arpreq()</a:t>
            </a:r>
            <a:r>
              <a:rPr lang="en" sz="1800" dirty="0">
                <a:solidFill>
                  <a:srgbClr val="24292E"/>
                </a:solidFill>
                <a:latin typeface="Lato"/>
                <a:ea typeface="Lato"/>
                <a:cs typeface="Lato"/>
                <a:sym typeface="Lato"/>
              </a:rPr>
              <a:t> to track of how many times the request has been sent</a:t>
            </a:r>
            <a:endParaRPr sz="1800" dirty="0">
              <a:solidFill>
                <a:srgbClr val="24292E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marR="152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800"/>
              <a:buFont typeface="Lato"/>
              <a:buChar char="○"/>
            </a:pPr>
            <a:r>
              <a:rPr lang="en" sz="1800" dirty="0">
                <a:solidFill>
                  <a:srgbClr val="24292E"/>
                </a:solidFill>
                <a:latin typeface="Lato"/>
                <a:ea typeface="Lato"/>
                <a:cs typeface="Lato"/>
                <a:sym typeface="Lato"/>
              </a:rPr>
              <a:t>If sent &gt;= 5 times and no response, send </a:t>
            </a:r>
            <a:r>
              <a:rPr lang="en" sz="1800" b="1" dirty="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ICMP destination host unreachable (type 3, code 1)</a:t>
            </a:r>
            <a:endParaRPr sz="1800" b="1" dirty="0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1524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Clr>
                <a:srgbClr val="24292E"/>
              </a:buClr>
              <a:buSzPts val="1800"/>
              <a:buFont typeface="Lato"/>
              <a:buChar char="●"/>
            </a:pPr>
            <a:r>
              <a:rPr lang="en" sz="1800" b="1" dirty="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Tip:</a:t>
            </a:r>
            <a:r>
              <a:rPr lang="en" sz="1800" dirty="0">
                <a:solidFill>
                  <a:srgbClr val="24292E"/>
                </a:solidFill>
                <a:latin typeface="Lato"/>
                <a:ea typeface="Lato"/>
                <a:cs typeface="Lato"/>
                <a:sym typeface="Lato"/>
              </a:rPr>
              <a:t> there is helpful pseudocode for this in </a:t>
            </a:r>
            <a:r>
              <a:rPr lang="en" sz="1800" dirty="0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sr_arpcache.h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CFE8B1-0AB9-ED8B-3497-48CCF2FA79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303300" y="2591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Summary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47" name="Google Shape;147;p25"/>
          <p:cNvSpPr txBox="1"/>
          <p:nvPr/>
        </p:nvSpPr>
        <p:spPr>
          <a:xfrm>
            <a:off x="217450" y="723050"/>
            <a:ext cx="4870500" cy="41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1524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 dirty="0">
                <a:latin typeface="Lato"/>
                <a:ea typeface="Lato"/>
                <a:cs typeface="Lato"/>
                <a:sym typeface="Lato"/>
              </a:rPr>
              <a:t>Code to be written in </a:t>
            </a: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sr_router.c:</a:t>
            </a:r>
            <a:endParaRPr dirty="0">
              <a:latin typeface="Lato"/>
              <a:ea typeface="Lato"/>
              <a:cs typeface="Lato"/>
              <a:sym typeface="Lato"/>
            </a:endParaRPr>
          </a:p>
          <a:p>
            <a:pPr marL="914400" marR="152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</a:pPr>
            <a:r>
              <a:rPr lang="en" dirty="0">
                <a:latin typeface="Lato"/>
                <a:ea typeface="Lato"/>
                <a:cs typeface="Lato"/>
                <a:sym typeface="Lato"/>
              </a:rPr>
              <a:t>Handle IP packet</a:t>
            </a:r>
            <a:endParaRPr dirty="0">
              <a:latin typeface="Lato"/>
              <a:ea typeface="Lato"/>
              <a:cs typeface="Lato"/>
              <a:sym typeface="Lato"/>
            </a:endParaRPr>
          </a:p>
          <a:p>
            <a:pPr marL="1371600" marR="1524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</a:pPr>
            <a:r>
              <a:rPr lang="en" dirty="0">
                <a:latin typeface="Lato"/>
                <a:ea typeface="Lato"/>
                <a:cs typeface="Lato"/>
                <a:sym typeface="Lato"/>
              </a:rPr>
              <a:t>Send ICMP echo replies</a:t>
            </a:r>
            <a:endParaRPr dirty="0">
              <a:latin typeface="Lato"/>
              <a:ea typeface="Lato"/>
              <a:cs typeface="Lato"/>
              <a:sym typeface="Lato"/>
            </a:endParaRPr>
          </a:p>
          <a:p>
            <a:pPr marL="1371600" marR="1524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</a:pPr>
            <a:r>
              <a:rPr lang="en" dirty="0">
                <a:latin typeface="Lato"/>
                <a:ea typeface="Lato"/>
                <a:cs typeface="Lato"/>
                <a:sym typeface="Lato"/>
              </a:rPr>
              <a:t>Send (forward) IP packets</a:t>
            </a:r>
            <a:endParaRPr dirty="0">
              <a:latin typeface="Lato"/>
              <a:ea typeface="Lato"/>
              <a:cs typeface="Lato"/>
              <a:sym typeface="Lato"/>
            </a:endParaRPr>
          </a:p>
          <a:p>
            <a:pPr marL="1371600" marR="1524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</a:pPr>
            <a:r>
              <a:rPr lang="en" dirty="0">
                <a:latin typeface="Lato"/>
                <a:ea typeface="Lato"/>
                <a:cs typeface="Lato"/>
                <a:sym typeface="Lato"/>
              </a:rPr>
              <a:t>Queue ARP requests</a:t>
            </a:r>
            <a:endParaRPr dirty="0">
              <a:latin typeface="Lato"/>
              <a:ea typeface="Lato"/>
              <a:cs typeface="Lato"/>
              <a:sym typeface="Lato"/>
            </a:endParaRPr>
          </a:p>
          <a:p>
            <a:pPr marL="914400" marR="152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</a:pPr>
            <a:r>
              <a:rPr lang="en" dirty="0">
                <a:latin typeface="Lato"/>
                <a:ea typeface="Lato"/>
                <a:cs typeface="Lato"/>
                <a:sym typeface="Lato"/>
              </a:rPr>
              <a:t>Handle ARP packet</a:t>
            </a:r>
            <a:endParaRPr dirty="0">
              <a:latin typeface="Lato"/>
              <a:ea typeface="Lato"/>
              <a:cs typeface="Lato"/>
              <a:sym typeface="Lato"/>
            </a:endParaRPr>
          </a:p>
          <a:p>
            <a:pPr marL="1371600" marR="1524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</a:pPr>
            <a:r>
              <a:rPr lang="en" dirty="0">
                <a:latin typeface="Lato"/>
                <a:ea typeface="Lato"/>
                <a:cs typeface="Lato"/>
                <a:sym typeface="Lato"/>
              </a:rPr>
              <a:t>Send ARP replies in response to requests</a:t>
            </a:r>
            <a:endParaRPr dirty="0">
              <a:latin typeface="Lato"/>
              <a:ea typeface="Lato"/>
              <a:cs typeface="Lato"/>
              <a:sym typeface="Lato"/>
            </a:endParaRPr>
          </a:p>
          <a:p>
            <a:pPr marL="1371600" marR="1524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</a:pPr>
            <a:r>
              <a:rPr lang="en" dirty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Cache incoming ARP reply</a:t>
            </a:r>
            <a:endParaRPr dirty="0">
              <a:latin typeface="Lato"/>
              <a:ea typeface="Lato"/>
              <a:cs typeface="Lato"/>
              <a:sym typeface="Lato"/>
            </a:endParaRPr>
          </a:p>
          <a:p>
            <a:pPr marL="1371600" marR="1524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</a:pPr>
            <a:r>
              <a:rPr lang="en" dirty="0">
                <a:latin typeface="Lato"/>
                <a:ea typeface="Lato"/>
                <a:cs typeface="Lato"/>
                <a:sym typeface="Lato"/>
              </a:rPr>
              <a:t>Send IP packets that are waiting on incoming ARP reply</a:t>
            </a:r>
            <a:endParaRPr dirty="0">
              <a:latin typeface="Lato"/>
              <a:ea typeface="Lato"/>
              <a:cs typeface="Lato"/>
              <a:sym typeface="Lato"/>
            </a:endParaRPr>
          </a:p>
          <a:p>
            <a:pPr marL="1371600" marR="1524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</a:pPr>
            <a:r>
              <a:rPr lang="en" dirty="0">
                <a:latin typeface="Lato"/>
                <a:ea typeface="Lato"/>
                <a:cs typeface="Lato"/>
                <a:sym typeface="Lato"/>
              </a:rPr>
              <a:t>Remove corresponding ARP request from queue</a:t>
            </a:r>
            <a:endParaRPr dirty="0">
              <a:latin typeface="Lato"/>
              <a:ea typeface="Lato"/>
              <a:cs typeface="Lato"/>
              <a:sym typeface="Lato"/>
            </a:endParaRPr>
          </a:p>
          <a:p>
            <a:pPr marL="914400" marR="152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</a:pPr>
            <a:r>
              <a:rPr lang="en" dirty="0">
                <a:latin typeface="Lato"/>
                <a:ea typeface="Lato"/>
                <a:cs typeface="Lato"/>
                <a:sym typeface="Lato"/>
              </a:rPr>
              <a:t>Send ICMP messages based on certain conditions</a:t>
            </a:r>
            <a:endParaRPr dirty="0">
              <a:latin typeface="Lato"/>
              <a:ea typeface="Lato"/>
              <a:cs typeface="Lato"/>
              <a:sym typeface="Lato"/>
            </a:endParaRPr>
          </a:p>
          <a:p>
            <a:pPr marL="0" marR="152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8" name="Google Shape;148;p25"/>
          <p:cNvSpPr txBox="1"/>
          <p:nvPr/>
        </p:nvSpPr>
        <p:spPr>
          <a:xfrm>
            <a:off x="4993175" y="799850"/>
            <a:ext cx="4016400" cy="30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1524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lang="en" dirty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Code to be written in </a:t>
            </a:r>
            <a:r>
              <a:rPr lang="en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sr_arpcache.c:</a:t>
            </a:r>
            <a:endParaRPr dirty="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152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</a:pPr>
            <a:r>
              <a:rPr lang="en" dirty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Iterate through ARP request queue</a:t>
            </a:r>
            <a:endParaRPr dirty="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marR="152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</a:pPr>
            <a:r>
              <a:rPr lang="en" dirty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Send and re-send ARP requests</a:t>
            </a:r>
            <a:endParaRPr dirty="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marR="152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</a:pPr>
            <a:r>
              <a:rPr lang="en" dirty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Check if we need to re-send or destroy ARP request</a:t>
            </a:r>
            <a:endParaRPr b="1" dirty="0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1524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lang="en" dirty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There are some helpful methods to look up interfaces in </a:t>
            </a:r>
            <a:r>
              <a:rPr lang="en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sr_if.c.</a:t>
            </a:r>
            <a:endParaRPr dirty="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1524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lang="en" dirty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There are some generally helpful methods in </a:t>
            </a:r>
            <a:r>
              <a:rPr lang="en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sr_utils.c.</a:t>
            </a:r>
            <a:endParaRPr dirty="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1524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9" name="Google Shape;149;p25"/>
          <p:cNvSpPr txBox="1"/>
          <p:nvPr/>
        </p:nvSpPr>
        <p:spPr>
          <a:xfrm>
            <a:off x="387325" y="4458975"/>
            <a:ext cx="8436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1524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These are just my recommendations for where to place different functionality. </a:t>
            </a:r>
            <a:endParaRPr b="1" dirty="0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152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You may organize the functionality across the code base as you see fit.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7AD28B-0940-6D16-9B4E-781855F428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" grpId="0"/>
      <p:bldP spid="148" grpId="0"/>
      <p:bldP spid="14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>
            <a:spLocks noGrp="1"/>
          </p:cNvSpPr>
          <p:nvPr>
            <p:ph type="title"/>
          </p:nvPr>
        </p:nvSpPr>
        <p:spPr>
          <a:xfrm>
            <a:off x="303300" y="2591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Final Thoughts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55" name="Google Shape;155;p26"/>
          <p:cNvSpPr txBox="1"/>
          <p:nvPr/>
        </p:nvSpPr>
        <p:spPr>
          <a:xfrm>
            <a:off x="293650" y="1027850"/>
            <a:ext cx="5029200" cy="39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1524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Please start early. 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marL="914400" marR="152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I repeat, </a:t>
            </a:r>
            <a:r>
              <a:rPr lang="en" sz="1800" b="1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start early.</a:t>
            </a:r>
            <a:endParaRPr sz="1800" b="1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1524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Come to office hours 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marL="457200" marR="1524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Ask questions on Piazza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marL="0" marR="1524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latin typeface="Lato"/>
              <a:ea typeface="Lato"/>
              <a:cs typeface="Lato"/>
              <a:sym typeface="Lato"/>
            </a:endParaRPr>
          </a:p>
          <a:p>
            <a:pPr marL="0" marR="1524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6" name="Google Shape;15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8775" y="745025"/>
            <a:ext cx="4495601" cy="370404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D49255-1FC5-3E2E-6900-E454B2C866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25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B5FEF-8EC7-A36C-0555-74670C612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Grading Checklist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160A7A-B947-C66C-CE29-CFF050C89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Ping from client to server1 (5)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Ping from client to server2 (5)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Ping from client to eth1 (5)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Ping from client to eth2 (5)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Ping from client to eth3 (5)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Traceroute from client to server1 (7)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Traceroute from client to server2 (7)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Traceroute from client to eth1 (2)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Traceroute from client to eth2 (2)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5A30B1-972F-FEB5-06AD-B55018172D54}"/>
              </a:ext>
            </a:extLst>
          </p:cNvPr>
          <p:cNvSpPr txBox="1"/>
          <p:nvPr/>
        </p:nvSpPr>
        <p:spPr>
          <a:xfrm>
            <a:off x="230785" y="626574"/>
            <a:ext cx="207372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Since we don’t have a </a:t>
            </a:r>
            <a:r>
              <a:rPr lang="en-US" dirty="0" err="1"/>
              <a:t>Gradescope</a:t>
            </a:r>
            <a:r>
              <a:rPr lang="en-US" dirty="0"/>
              <a:t> </a:t>
            </a:r>
            <a:r>
              <a:rPr lang="en-US" dirty="0" err="1"/>
              <a:t>autograder</a:t>
            </a:r>
            <a:r>
              <a:rPr lang="en-US" dirty="0"/>
              <a:t> we are providing visible test cases for grading</a:t>
            </a:r>
          </a:p>
          <a:p>
            <a:endParaRPr lang="en-US" dirty="0"/>
          </a:p>
          <a:p>
            <a:r>
              <a:rPr lang="en-US" dirty="0"/>
              <a:t>(numbers in parentheses are test-case points)</a:t>
            </a:r>
          </a:p>
          <a:p>
            <a:endParaRPr lang="en-US" dirty="0"/>
          </a:p>
          <a:p>
            <a:r>
              <a:rPr lang="en-US" dirty="0"/>
              <a:t>Note: This list is not exhaustive. There will be hidden test cases. You should ensure your solution is complete and handles all edge cases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5A22E6-69A5-69A0-1EE2-88E82642BD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930885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CAFB7-0D10-AE27-571A-48F23D443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57D4A-42B2-23D1-EE4A-0D99CB593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Grading Checklist (continued)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E0937-5506-01A2-4771-B6208C6DE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10112" y="1532717"/>
            <a:ext cx="6321600" cy="30024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Traceroute from client to eth3 (2)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Get HTTP content from server1 (10)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Get HTTP content from server2 (10)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Send a ping from client to server with TTL=1 (router should reject with TTL exceeded) (5)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README: Description of Code you wrote (5)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014A8A-3E0F-0643-6E92-9F191B6579DF}"/>
              </a:ext>
            </a:extLst>
          </p:cNvPr>
          <p:cNvSpPr txBox="1"/>
          <p:nvPr/>
        </p:nvSpPr>
        <p:spPr>
          <a:xfrm>
            <a:off x="230785" y="626574"/>
            <a:ext cx="207372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Since we don’t have a </a:t>
            </a:r>
            <a:r>
              <a:rPr lang="en-US" dirty="0" err="1"/>
              <a:t>Gradescope</a:t>
            </a:r>
            <a:r>
              <a:rPr lang="en-US" dirty="0"/>
              <a:t> </a:t>
            </a:r>
            <a:r>
              <a:rPr lang="en-US" dirty="0" err="1"/>
              <a:t>autograder</a:t>
            </a:r>
            <a:r>
              <a:rPr lang="en-US" dirty="0"/>
              <a:t> for this assignment, please ensure these test cases succeed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0EBD12-CE1B-4AB9-0F6D-EF38656206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855147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>
            <a:spLocks noGrp="1"/>
          </p:cNvSpPr>
          <p:nvPr>
            <p:ph type="title"/>
          </p:nvPr>
        </p:nvSpPr>
        <p:spPr>
          <a:xfrm>
            <a:off x="303300" y="2591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4"/>
                </a:solidFill>
              </a:rPr>
              <a:t>Additional Tips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162" name="Google Shape;162;p27"/>
          <p:cNvSpPr txBox="1"/>
          <p:nvPr/>
        </p:nvSpPr>
        <p:spPr>
          <a:xfrm>
            <a:off x="293650" y="1027850"/>
            <a:ext cx="8367000" cy="39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152400" lvl="0" indent="-2857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Lato"/>
                <a:ea typeface="Lato"/>
                <a:cs typeface="Lato"/>
                <a:sym typeface="Lato"/>
              </a:rPr>
              <a:t>Go over the files/classes in the router directory to understand the available functions that you can use during coding.</a:t>
            </a:r>
          </a:p>
          <a:p>
            <a:pPr marL="285750" marR="152400" lvl="0" indent="-2857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Lato"/>
                <a:ea typeface="Lato"/>
                <a:cs typeface="Lato"/>
                <a:sym typeface="Lato"/>
              </a:rPr>
              <a:t>Be sure to correctly convert data from network format to local host format (</a:t>
            </a:r>
            <a:r>
              <a:rPr lang="en-US" sz="1800" dirty="0" err="1">
                <a:latin typeface="Lato"/>
                <a:ea typeface="Lato"/>
                <a:cs typeface="Lato"/>
                <a:sym typeface="Lato"/>
              </a:rPr>
              <a:t>ntohs</a:t>
            </a:r>
            <a:r>
              <a:rPr lang="en-US" sz="1800" dirty="0">
                <a:latin typeface="Lato"/>
                <a:ea typeface="Lato"/>
                <a:cs typeface="Lato"/>
                <a:sym typeface="Lato"/>
              </a:rPr>
              <a:t>/</a:t>
            </a:r>
            <a:r>
              <a:rPr lang="en-US" sz="1800" dirty="0" err="1">
                <a:latin typeface="Lato"/>
                <a:ea typeface="Lato"/>
                <a:cs typeface="Lato"/>
                <a:sym typeface="Lato"/>
              </a:rPr>
              <a:t>ntohl</a:t>
            </a:r>
            <a:r>
              <a:rPr lang="en-US" sz="1800" dirty="0">
                <a:latin typeface="Lato"/>
                <a:ea typeface="Lato"/>
                <a:cs typeface="Lato"/>
                <a:sym typeface="Lato"/>
              </a:rPr>
              <a:t>) and vice versa (whenever applicable).</a:t>
            </a:r>
          </a:p>
          <a:p>
            <a:pPr marL="285750" marR="152400" lvl="0" indent="-2857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Lato"/>
                <a:ea typeface="Lato"/>
                <a:cs typeface="Lato"/>
                <a:sym typeface="Lato"/>
              </a:rPr>
              <a:t>Creating new packets: Use the file named “Tips for Packet Creation” in the main folder for reference.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  <a:p>
            <a:pPr marL="0" marR="1524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A3DFDC-7F20-EC7F-8A18-D07DE246CE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28</a:t>
            </a:fld>
            <a:endParaRPr lang="e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9B45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6125</TotalTime>
  <Words>2534</Words>
  <Application>Microsoft Office PowerPoint</Application>
  <PresentationFormat>On-screen Show (16:9)</PresentationFormat>
  <Paragraphs>410</Paragraphs>
  <Slides>28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Wingdings</vt:lpstr>
      <vt:lpstr>Arial</vt:lpstr>
      <vt:lpstr>Linux Libertine</vt:lpstr>
      <vt:lpstr>Lato</vt:lpstr>
      <vt:lpstr>Raleway</vt:lpstr>
      <vt:lpstr>Courier New</vt:lpstr>
      <vt:lpstr>Swiss</vt:lpstr>
      <vt:lpstr>Computer Networks Assignment 2:  Simple Router</vt:lpstr>
      <vt:lpstr>PART 1: ASSIGNMENT DESCRIPTION    Implementing a Simple Router</vt:lpstr>
      <vt:lpstr>Overview</vt:lpstr>
      <vt:lpstr>Flow of a TCP/IP Transaction (HTTP Request)</vt:lpstr>
      <vt:lpstr>Raw Ethernet Frames</vt:lpstr>
      <vt:lpstr>Ethernet</vt:lpstr>
      <vt:lpstr>Raw Ethernet Frames</vt:lpstr>
      <vt:lpstr>Address Resolution Protocol (ARP)</vt:lpstr>
      <vt:lpstr>Address Resolution Protocol (ARP)</vt:lpstr>
      <vt:lpstr>Raw Ethernet Frames</vt:lpstr>
      <vt:lpstr>Internet Protocol (IPv4)</vt:lpstr>
      <vt:lpstr>IP Forwarding</vt:lpstr>
      <vt:lpstr>Raw Ethernet Frames</vt:lpstr>
      <vt:lpstr>ICMP</vt:lpstr>
      <vt:lpstr>ICMP Unreachable Host Scenario</vt:lpstr>
      <vt:lpstr>Summary: A Rough Flow Chart</vt:lpstr>
      <vt:lpstr>PowerPoint Presentation</vt:lpstr>
      <vt:lpstr>END OF PART 1    Q&amp;A</vt:lpstr>
      <vt:lpstr>PART 2: TESTING ENVIRONMENT    Deploying Mininet using Multipass</vt:lpstr>
      <vt:lpstr>Mininet VM Setup</vt:lpstr>
      <vt:lpstr>Getting Started: sr_router.c</vt:lpstr>
      <vt:lpstr>Helper functions: sending a packet</vt:lpstr>
      <vt:lpstr>Getting Started: sr_arpcache.c</vt:lpstr>
      <vt:lpstr>Summary</vt:lpstr>
      <vt:lpstr>Final Thoughts</vt:lpstr>
      <vt:lpstr>Grading Checklist</vt:lpstr>
      <vt:lpstr>Grading Checklist (continued)</vt:lpstr>
      <vt:lpstr>Additional Tips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 Assignment 2: Router Tutorial</dc:title>
  <dc:creator>Sana Mahmood</dc:creator>
  <cp:lastModifiedBy>Sana Mahmood</cp:lastModifiedBy>
  <cp:revision>7</cp:revision>
  <dcterms:modified xsi:type="dcterms:W3CDTF">2026-02-18T15:34:08Z</dcterms:modified>
</cp:coreProperties>
</file>